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01211af-a317-fec7-1637-1f29af363817}">
          <p14:sldIdLst>
            <p14:sldId id="256"/>
          </p14:sldIdLst>
        </p14:section>
        <p14:section name="Work done on a slope" id="{a9e82ee8-11b7-cb1e-7d0f-df49ea18fd7f}">
          <p14:sldIdLst>
            <p14:sldId id="257"/>
            <p14:sldId id="258"/>
            <p14:sldId id="259"/>
            <p14:sldId id="260"/>
            <p14:sldId id="261"/>
          </p14:sldIdLst>
        </p14:section>
        <p14:section name="Force at an angle" id="{b3b8fff7-e1e9-372b-7968-8161da51ca00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done by the pulling force T at a constant speed = work done against friction (μR × d) + work done against gravity (mgh).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Show to reveal the derivation. Key idea: only the vertical height gained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done by T = work done against gravity (mgd sin α) + work done against friction (μmgd cos α).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a) 20.8 N  b) 415 J  c) 553 J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μ = 0.313 (3 s.f.)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263 J (3 s.f.)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component of the force in the direction of motion does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541 J (3 s.f.)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8970447" y="1274216"/>
            <a:ext cx="3979377" cy="50841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 rot="2700000">
            <a:off x="9263421" y="617220"/>
            <a:ext cx="3979377" cy="778977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33" b="1" dirty="0">
                <a:solidFill>
                  <a:schemeClr val="bg1"/>
                </a:solidFill>
              </a:rPr>
              <a:t>Further</a:t>
            </a:r>
            <a:endParaRPr lang="en-US" sz="2133" dirty="0"/>
          </a:p>
          <a:p>
            <a:pPr algn="ctr" indent="0" marL="0">
              <a:buNone/>
            </a:pPr>
            <a:r>
              <a:rPr lang="en-US" sz="2133" b="1" dirty="0">
                <a:solidFill>
                  <a:schemeClr val="bg1"/>
                </a:solidFill>
              </a:rPr>
              <a:t>Mechanics 1</a:t>
            </a:r>
            <a:endParaRPr lang="en-US" sz="2133" dirty="0"/>
          </a:p>
        </p:txBody>
      </p:sp>
      <p:sp>
        <p:nvSpPr>
          <p:cNvPr id="4" name="Text 2"/>
          <p:cNvSpPr/>
          <p:nvPr/>
        </p:nvSpPr>
        <p:spPr>
          <a:xfrm>
            <a:off x="3979377" y="6282294"/>
            <a:ext cx="4233306" cy="3217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67" b="1" dirty="0">
                <a:solidFill>
                  <a:srgbClr val="4B2382"/>
                </a:solidFill>
              </a:rPr>
              <a:t>Mr Mathematics</a:t>
            </a:r>
            <a:endParaRPr lang="en-US" sz="2267" dirty="0"/>
          </a:p>
        </p:txBody>
      </p:sp>
      <p:sp>
        <p:nvSpPr>
          <p:cNvPr id="5" name="Text 3"/>
          <p:cNvSpPr/>
          <p:nvPr/>
        </p:nvSpPr>
        <p:spPr>
          <a:xfrm>
            <a:off x="3979377" y="6612484"/>
            <a:ext cx="4233306" cy="16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Maths Lessons to Engage and Inspire</a:t>
            </a:r>
            <a:endParaRPr lang="en-US" sz="10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304770" y="135423"/>
            <a:ext cx="8974653" cy="1049823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0" y="1185337"/>
            <a:ext cx="12191970" cy="7112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or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07059" y="169347"/>
            <a:ext cx="0" cy="563883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" name="Text 2"/>
          <p:cNvSpPr/>
          <p:nvPr/>
        </p:nvSpPr>
        <p:spPr>
          <a:xfrm>
            <a:off x="3979377" y="6282294"/>
            <a:ext cx="4233306" cy="3217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67" b="1" dirty="0">
                <a:solidFill>
                  <a:srgbClr val="4B2382"/>
                </a:solidFill>
              </a:rPr>
              <a:t>Mr Mathematics</a:t>
            </a:r>
            <a:endParaRPr lang="en-US" sz="2267" dirty="0"/>
          </a:p>
        </p:txBody>
      </p:sp>
      <p:sp>
        <p:nvSpPr>
          <p:cNvPr id="4" name="Text 3"/>
          <p:cNvSpPr/>
          <p:nvPr/>
        </p:nvSpPr>
        <p:spPr>
          <a:xfrm>
            <a:off x="3979377" y="6612484"/>
            <a:ext cx="4233306" cy="16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Maths Lessons to Engage and Inspire</a:t>
            </a:r>
            <a:endParaRPr lang="en-US" sz="10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237104" y="220096"/>
            <a:ext cx="5587990" cy="550331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amp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3979377" y="6282294"/>
            <a:ext cx="4233306" cy="3217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67" b="1" dirty="0">
                <a:solidFill>
                  <a:srgbClr val="4B2382"/>
                </a:solidFill>
              </a:rPr>
              <a:t>Mr Mathematics</a:t>
            </a:r>
            <a:endParaRPr lang="en-US" sz="2267" dirty="0"/>
          </a:p>
        </p:txBody>
      </p:sp>
      <p:sp>
        <p:nvSpPr>
          <p:cNvPr id="3" name="Text 3"/>
          <p:cNvSpPr/>
          <p:nvPr/>
        </p:nvSpPr>
        <p:spPr>
          <a:xfrm>
            <a:off x="3979377" y="6612484"/>
            <a:ext cx="4233306" cy="16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Maths Lessons to Engage and Inspire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237104" y="203180"/>
            <a:ext cx="5418643" cy="2794041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67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67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304770" y="135423"/>
            <a:ext cx="8974653" cy="104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Work Done on Ramps</a:t>
            </a:r>
            <a:endParaRPr lang="en-US" sz="6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0" y="1185337"/>
            <a:ext cx="1219197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against friction and gravity</a:t>
            </a:r>
            <a:endParaRPr lang="en-US" sz="4000" dirty="0"/>
          </a:p>
        </p:txBody>
      </p:sp>
      <p:sp>
        <p:nvSpPr>
          <p:cNvPr id="4" name="Key formula"/>
          <p:cNvSpPr/>
          <p:nvPr/>
        </p:nvSpPr>
        <p:spPr>
          <a:xfrm>
            <a:off x="304770" y="2269084"/>
            <a:ext cx="5503316" cy="2370673"/>
          </a:xfrm>
          <a:prstGeom prst="roundRect">
            <a:avLst>
              <a:gd name="adj" fmla="val 4999"/>
            </a:avLst>
          </a:prstGeom>
          <a:noFill/>
          <a:ln w="25400">
            <a:solidFill>
              <a:schemeClr val="tx2"/>
            </a:solidFill>
          </a:ln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867" dirty="0">
                <a:solidFill>
                  <a:schemeClr val="accent2"/>
                </a:solidFill>
              </a:rPr>
              <a:t>T</a:t>
            </a:r>
            <a:r>
              <a:rPr lang="en-US" sz="3867" dirty="0">
                <a:solidFill>
                  <a:schemeClr val="tx1"/>
                </a:solidFill>
              </a:rPr>
              <a:t> × d</a:t>
            </a:r>
            <a:endParaRPr lang="en-US" sz="3867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867" dirty="0">
                <a:solidFill>
                  <a:schemeClr val="tx1"/>
                </a:solidFill>
              </a:rPr>
              <a:t>=</a:t>
            </a:r>
            <a:endParaRPr lang="en-US" sz="3867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867" dirty="0">
                <a:solidFill>
                  <a:schemeClr val="accent3"/>
                </a:solidFill>
              </a:rPr>
              <a:t>μR</a:t>
            </a:r>
            <a:r>
              <a:rPr lang="en-US" sz="3867" dirty="0">
                <a:solidFill>
                  <a:schemeClr val="tx1"/>
                </a:solidFill>
              </a:rPr>
              <a:t> × d + </a:t>
            </a:r>
            <a:r>
              <a:rPr lang="en-US" sz="3867" dirty="0">
                <a:solidFill>
                  <a:schemeClr val="accent1"/>
                </a:solidFill>
              </a:rPr>
              <a:t>m</a:t>
            </a:r>
            <a:r>
              <a:rPr lang="en-US" sz="3867" dirty="0">
                <a:solidFill>
                  <a:schemeClr val="tx1"/>
                </a:solidFill>
              </a:rPr>
              <a:t>gh</a:t>
            </a:r>
            <a:endParaRPr lang="en-US" sz="3867" dirty="0"/>
          </a:p>
        </p:txBody>
      </p:sp>
      <p:sp>
        <p:nvSpPr>
          <p:cNvPr id="5" name="Caption"/>
          <p:cNvSpPr/>
          <p:nvPr/>
        </p:nvSpPr>
        <p:spPr>
          <a:xfrm>
            <a:off x="304770" y="4792096"/>
            <a:ext cx="5503316" cy="1049823"/>
          </a:xfrm>
          <a:prstGeom prst="roundRect">
            <a:avLst>
              <a:gd name="adj" fmla="val 6454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67" dirty="0">
                <a:solidFill>
                  <a:schemeClr val="tx1"/>
                </a:solidFill>
              </a:rPr>
              <a:t>Work done against friction and</a:t>
            </a:r>
            <a:endParaRPr lang="en-US" sz="2267" dirty="0"/>
          </a:p>
          <a:p>
            <a:pPr algn="ctr" indent="0" marL="0">
              <a:buNone/>
            </a:pPr>
            <a:r>
              <a:rPr lang="en-US" sz="2267" dirty="0">
                <a:solidFill>
                  <a:schemeClr val="tx1"/>
                </a:solidFill>
              </a:rPr>
              <a:t>gravity at a constant speed</a:t>
            </a:r>
            <a:endParaRPr lang="en-US" sz="2267" dirty="0"/>
          </a:p>
        </p:txBody>
      </p:sp>
      <p:sp>
        <p:nvSpPr>
          <p:cNvPr id="6" name="Diagram Ramp 1"/>
          <p:cNvSpPr/>
          <p:nvPr/>
        </p:nvSpPr>
        <p:spPr>
          <a:xfrm>
            <a:off x="6177138" y="2510119"/>
            <a:ext cx="5679704" cy="3279221"/>
          </a:xfrm>
          <a:custGeom>
            <a:avLst/>
            <a:gdLst/>
            <a:ahLst/>
            <a:cxnLst/>
            <a:rect l="l" t="t" r="r" b="b"/>
            <a:pathLst>
              <a:path w="5679704" h="3279221">
                <a:moveTo>
                  <a:pt x="0" y="3279221"/>
                </a:moveTo>
                <a:lnTo>
                  <a:pt x="5679704" y="3279221"/>
                </a:lnTo>
                <a:lnTo>
                  <a:pt x="5679704" y="0"/>
                </a:lnTo>
                <a:close/>
              </a:path>
            </a:pathLst>
          </a:custGeom>
          <a:solidFill>
            <a:srgbClr val="C2D9E5"/>
          </a:solidFill>
          <a:ln w="30480">
            <a:solidFill>
              <a:schemeClr val="tx1"/>
            </a:solidFill>
            <a:prstDash val="solid"/>
          </a:ln>
        </p:spPr>
      </p:sp>
      <p:sp>
        <p:nvSpPr>
          <p:cNvPr id="7" name="Diagram shape 2"/>
          <p:cNvSpPr/>
          <p:nvPr/>
        </p:nvSpPr>
        <p:spPr>
          <a:xfrm>
            <a:off x="11654028" y="5586435"/>
            <a:ext cx="202814" cy="202814"/>
          </a:xfrm>
          <a:custGeom>
            <a:avLst/>
            <a:gdLst/>
            <a:ahLst/>
            <a:cxnLst/>
            <a:rect l="l" t="t" r="r" b="b"/>
            <a:pathLst>
              <a:path w="202814" h="202814">
                <a:moveTo>
                  <a:pt x="0" y="202814"/>
                </a:moveTo>
                <a:lnTo>
                  <a:pt x="0" y="0"/>
                </a:lnTo>
                <a:lnTo>
                  <a:pt x="202814" y="0"/>
                </a:lnTo>
              </a:path>
            </a:pathLst>
          </a:custGeom>
          <a:noFill/>
          <a:ln w="20320">
            <a:solidFill>
              <a:schemeClr val="tx1"/>
            </a:solidFill>
            <a:prstDash val="solid"/>
          </a:ln>
        </p:spPr>
      </p:sp>
      <p:sp>
        <p:nvSpPr>
          <p:cNvPr id="8" name="Diagram shape 3"/>
          <p:cNvSpPr/>
          <p:nvPr/>
        </p:nvSpPr>
        <p:spPr>
          <a:xfrm>
            <a:off x="6791980" y="5434279"/>
            <a:ext cx="95098" cy="354970"/>
          </a:xfrm>
          <a:custGeom>
            <a:avLst/>
            <a:gdLst/>
            <a:ahLst/>
            <a:cxnLst/>
            <a:rect l="l" t="t" r="r" b="b"/>
            <a:pathLst>
              <a:path w="95098" h="354970">
                <a:moveTo>
                  <a:pt x="95098" y="354970"/>
                </a:moveTo>
                <a:lnTo>
                  <a:pt x="94732" y="331744"/>
                </a:lnTo>
                <a:lnTo>
                  <a:pt x="93635" y="308519"/>
                </a:lnTo>
                <a:lnTo>
                  <a:pt x="91714" y="285384"/>
                </a:lnTo>
                <a:lnTo>
                  <a:pt x="89063" y="262341"/>
                </a:lnTo>
                <a:lnTo>
                  <a:pt x="85679" y="239298"/>
                </a:lnTo>
                <a:lnTo>
                  <a:pt x="81473" y="216438"/>
                </a:lnTo>
                <a:lnTo>
                  <a:pt x="76535" y="193761"/>
                </a:lnTo>
                <a:lnTo>
                  <a:pt x="70957" y="171267"/>
                </a:lnTo>
                <a:lnTo>
                  <a:pt x="64557" y="148864"/>
                </a:lnTo>
                <a:lnTo>
                  <a:pt x="57424" y="126736"/>
                </a:lnTo>
                <a:lnTo>
                  <a:pt x="49652" y="104882"/>
                </a:lnTo>
                <a:lnTo>
                  <a:pt x="41057" y="83302"/>
                </a:lnTo>
                <a:lnTo>
                  <a:pt x="31821" y="61996"/>
                </a:lnTo>
                <a:lnTo>
                  <a:pt x="21946" y="40965"/>
                </a:lnTo>
                <a:lnTo>
                  <a:pt x="11247" y="20300"/>
                </a:lnTo>
                <a:lnTo>
                  <a:pt x="0" y="0"/>
                </a:lnTo>
              </a:path>
            </a:pathLst>
          </a:custGeom>
          <a:noFill/>
          <a:ln w="20320">
            <a:solidFill>
              <a:schemeClr val="tx1"/>
            </a:solidFill>
            <a:prstDash val="solid"/>
          </a:ln>
        </p:spPr>
      </p:sp>
      <p:sp>
        <p:nvSpPr>
          <p:cNvPr id="9" name="Diagram label 4"/>
          <p:cNvSpPr txBox="1"/>
          <p:nvPr/>
        </p:nvSpPr>
        <p:spPr>
          <a:xfrm>
            <a:off x="6960870" y="5407853"/>
            <a:ext cx="282001" cy="342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76" dirty="0">
                <a:solidFill>
                  <a:schemeClr val="tx1"/>
                </a:solidFill>
              </a:rPr>
              <a:t>α</a:t>
            </a:r>
            <a:endParaRPr lang="en-US" sz="2076" dirty="0"/>
          </a:p>
        </p:txBody>
      </p:sp>
      <p:sp>
        <p:nvSpPr>
          <p:cNvPr id="10" name="Diagram Particle 5"/>
          <p:cNvSpPr/>
          <p:nvPr/>
        </p:nvSpPr>
        <p:spPr>
          <a:xfrm>
            <a:off x="8018008" y="3551621"/>
            <a:ext cx="969813" cy="969813"/>
          </a:xfrm>
          <a:custGeom>
            <a:avLst/>
            <a:gdLst/>
            <a:ahLst/>
            <a:cxnLst/>
            <a:rect l="l" t="t" r="r" b="b"/>
            <a:pathLst>
              <a:path w="969813" h="969813">
                <a:moveTo>
                  <a:pt x="354970" y="969813"/>
                </a:moveTo>
                <a:lnTo>
                  <a:pt x="969813" y="614843"/>
                </a:lnTo>
                <a:lnTo>
                  <a:pt x="614843" y="0"/>
                </a:lnTo>
                <a:lnTo>
                  <a:pt x="0" y="354970"/>
                </a:lnTo>
                <a:close/>
              </a:path>
            </a:pathLst>
          </a:custGeom>
          <a:solidFill>
            <a:schemeClr val="bg1"/>
          </a:solidFill>
          <a:ln w="30480">
            <a:solidFill>
              <a:schemeClr val="accent1"/>
            </a:solidFill>
            <a:prstDash val="solid"/>
          </a:ln>
        </p:spPr>
      </p:sp>
      <p:sp>
        <p:nvSpPr>
          <p:cNvPr id="11" name="Diagram arrow 6"/>
          <p:cNvSpPr/>
          <p:nvPr/>
        </p:nvSpPr>
        <p:spPr>
          <a:xfrm flipV="1">
            <a:off x="8810335" y="3301258"/>
            <a:ext cx="966155" cy="557875"/>
          </a:xfrm>
          <a:prstGeom prst="line">
            <a:avLst/>
          </a:prstGeom>
          <a:noFill/>
          <a:ln w="35560">
            <a:solidFill>
              <a:schemeClr val="accent2"/>
            </a:solidFill>
            <a:prstDash val="solid"/>
            <a:tailEnd type="triangle" w="lg" len="lg"/>
          </a:ln>
        </p:spPr>
      </p:sp>
      <p:sp>
        <p:nvSpPr>
          <p:cNvPr id="12" name="Diagram label 7"/>
          <p:cNvSpPr txBox="1"/>
          <p:nvPr/>
        </p:nvSpPr>
        <p:spPr>
          <a:xfrm>
            <a:off x="9899569" y="2953329"/>
            <a:ext cx="282001" cy="34280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76" dirty="0">
                <a:solidFill>
                  <a:schemeClr val="accent2"/>
                </a:solidFill>
              </a:rPr>
              <a:t>T</a:t>
            </a:r>
            <a:endParaRPr lang="en-US" sz="2076" dirty="0"/>
          </a:p>
        </p:txBody>
      </p:sp>
      <p:sp>
        <p:nvSpPr>
          <p:cNvPr id="13" name="Diagram arrow 8"/>
          <p:cNvSpPr/>
          <p:nvPr/>
        </p:nvSpPr>
        <p:spPr>
          <a:xfrm flipH="1">
            <a:off x="7361103" y="4214104"/>
            <a:ext cx="834481" cy="481797"/>
          </a:xfrm>
          <a:prstGeom prst="line">
            <a:avLst/>
          </a:prstGeom>
          <a:noFill/>
          <a:ln w="35560">
            <a:solidFill>
              <a:schemeClr val="accent3"/>
            </a:solidFill>
            <a:prstDash val="solid"/>
            <a:tailEnd type="triangle" w="lg" len="lg"/>
          </a:ln>
        </p:spPr>
      </p:sp>
      <p:sp>
        <p:nvSpPr>
          <p:cNvPr id="14" name="Diagram label 9"/>
          <p:cNvSpPr txBox="1"/>
          <p:nvPr/>
        </p:nvSpPr>
        <p:spPr>
          <a:xfrm>
            <a:off x="6792620" y="4735220"/>
            <a:ext cx="445496" cy="342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76" dirty="0">
                <a:solidFill>
                  <a:schemeClr val="accent3"/>
                </a:solidFill>
              </a:rPr>
              <a:t>μR</a:t>
            </a:r>
            <a:endParaRPr lang="en-US" sz="2076" dirty="0"/>
          </a:p>
        </p:txBody>
      </p:sp>
      <p:sp>
        <p:nvSpPr>
          <p:cNvPr id="15" name="Diagram arrow 10"/>
          <p:cNvSpPr/>
          <p:nvPr/>
        </p:nvSpPr>
        <p:spPr>
          <a:xfrm flipH="1" flipV="1">
            <a:off x="7843723" y="2894716"/>
            <a:ext cx="481797" cy="834481"/>
          </a:xfrm>
          <a:prstGeom prst="line">
            <a:avLst/>
          </a:prstGeom>
          <a:noFill/>
          <a:ln w="35560">
            <a:solidFill>
              <a:schemeClr val="accent4"/>
            </a:solidFill>
            <a:prstDash val="solid"/>
            <a:tailEnd type="triangle" w="lg" len="lg"/>
          </a:ln>
        </p:spPr>
      </p:sp>
      <p:sp>
        <p:nvSpPr>
          <p:cNvPr id="16" name="Diagram label 11"/>
          <p:cNvSpPr txBox="1"/>
          <p:nvPr/>
        </p:nvSpPr>
        <p:spPr>
          <a:xfrm>
            <a:off x="7490673" y="2494849"/>
            <a:ext cx="282001" cy="34280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076" dirty="0">
                <a:solidFill>
                  <a:schemeClr val="accent4"/>
                </a:solidFill>
              </a:rPr>
              <a:t>R</a:t>
            </a:r>
            <a:endParaRPr lang="en-US" sz="2076" dirty="0"/>
          </a:p>
        </p:txBody>
      </p:sp>
      <p:sp>
        <p:nvSpPr>
          <p:cNvPr id="17" name="Diagram arrow 12"/>
          <p:cNvSpPr/>
          <p:nvPr/>
        </p:nvSpPr>
        <p:spPr>
          <a:xfrm>
            <a:off x="8680491" y="4344040"/>
            <a:ext cx="0" cy="1014252"/>
          </a:xfrm>
          <a:prstGeom prst="line">
            <a:avLst/>
          </a:prstGeom>
          <a:noFill/>
          <a:ln w="35560">
            <a:solidFill>
              <a:schemeClr val="accent1"/>
            </a:solidFill>
            <a:prstDash val="solid"/>
            <a:tailEnd type="triangle" w="lg" len="lg"/>
          </a:ln>
        </p:spPr>
      </p:sp>
      <p:sp>
        <p:nvSpPr>
          <p:cNvPr id="18" name="Diagram label 13"/>
          <p:cNvSpPr txBox="1"/>
          <p:nvPr/>
        </p:nvSpPr>
        <p:spPr>
          <a:xfrm>
            <a:off x="8781898" y="5065136"/>
            <a:ext cx="445496" cy="342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76" dirty="0">
                <a:solidFill>
                  <a:schemeClr val="accent1"/>
                </a:solidFill>
              </a:rPr>
              <a:t>mg</a:t>
            </a:r>
            <a:endParaRPr lang="en-US" sz="2076" dirty="0"/>
          </a:p>
        </p:txBody>
      </p:sp>
      <p:sp>
        <p:nvSpPr>
          <p:cNvPr id="19" name="Next slide">
            <a:hlinkClick r:id="" action="ppaction://hlinkshowjump?jump=nextslide"/>
          </p:cNvPr>
          <p:cNvSpPr txBox="1"/>
          <p:nvPr/>
        </p:nvSpPr>
        <p:spPr>
          <a:xfrm>
            <a:off x="107187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Next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237104" y="220096"/>
            <a:ext cx="5587990" cy="5503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Work done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work done by a constant force is the magnitude of the force multiplied by the distance moved in the direction of the force.</a:t>
            </a:r>
            <a:endParaRPr lang="en-US" sz="1400" dirty="0"/>
          </a:p>
          <a:p>
            <a:pPr algn="ctr" indent="0" marL="0">
              <a:lnSpc>
                <a:spcPts val="2070"/>
              </a:lnSpc>
              <a:spcBef>
                <a:spcPts val="267"/>
              </a:spcBef>
              <a:spcAft>
                <a:spcPts val="1067"/>
              </a:spcAft>
              <a:buNone/>
            </a:pPr>
            <a:r>
              <a:rPr lang="en-US" sz="1533" dirty="0">
                <a:solidFill>
                  <a:schemeClr val="tx1"/>
                </a:solidFill>
              </a:rPr>
              <a:t>Work done = force × distance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Work done is measured in joules (J).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Work done against gravity on a slope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When a particle of mass m kg moves a distance d m up a line of greatest slope, it rises a vertical height h = d sin α.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component of its weight acting down the slope is mg sin α.</a:t>
            </a:r>
            <a:endParaRPr lang="en-US" sz="1400" dirty="0"/>
          </a:p>
          <a:p>
            <a:pPr algn="ctr" indent="0" marL="0">
              <a:lnSpc>
                <a:spcPts val="2070"/>
              </a:lnSpc>
              <a:spcBef>
                <a:spcPts val="267"/>
              </a:spcBef>
              <a:spcAft>
                <a:spcPts val="1067"/>
              </a:spcAft>
              <a:buNone/>
            </a:pPr>
            <a:r>
              <a:rPr lang="en-US" sz="1533" dirty="0">
                <a:solidFill>
                  <a:schemeClr val="tx1"/>
                </a:solidFill>
              </a:rPr>
              <a:t>Work done against gravity = mgh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Only the vertical height gained matters, not the distance moved along the slope.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Take g = 9.8 m s</a:t>
            </a:r>
            <a:r>
              <a:rPr lang="en-US" sz="1400" baseline="30000" dirty="0">
                <a:solidFill>
                  <a:schemeClr val="tx1"/>
                </a:solidFill>
              </a:rPr>
              <a:t>−2</a:t>
            </a:r>
            <a:r>
              <a:rPr lang="en-US" sz="1400" dirty="0">
                <a:solidFill>
                  <a:schemeClr val="tx1"/>
                </a:solidFill>
              </a:rPr>
              <a:t> and give answers to 3 significant figures.</a:t>
            </a:r>
            <a:endParaRPr lang="en-US" sz="1400" dirty="0"/>
          </a:p>
        </p:txBody>
      </p:sp>
      <p:sp>
        <p:nvSpPr>
          <p:cNvPr id="3" name="Diagram Ramp 1"/>
          <p:cNvSpPr/>
          <p:nvPr/>
        </p:nvSpPr>
        <p:spPr>
          <a:xfrm>
            <a:off x="6777807" y="364388"/>
            <a:ext cx="4421398" cy="1968520"/>
          </a:xfrm>
          <a:custGeom>
            <a:avLst/>
            <a:gdLst/>
            <a:ahLst/>
            <a:cxnLst/>
            <a:rect l="l" t="t" r="r" b="b"/>
            <a:pathLst>
              <a:path w="4421398" h="1968520">
                <a:moveTo>
                  <a:pt x="0" y="1968520"/>
                </a:moveTo>
                <a:lnTo>
                  <a:pt x="4421398" y="1968520"/>
                </a:lnTo>
                <a:lnTo>
                  <a:pt x="4421398" y="0"/>
                </a:lnTo>
                <a:close/>
              </a:path>
            </a:pathLst>
          </a:custGeom>
          <a:solidFill>
            <a:srgbClr val="C2D9E5"/>
          </a:solidFill>
          <a:ln w="23749">
            <a:solidFill>
              <a:schemeClr val="tx1"/>
            </a:solidFill>
            <a:prstDash val="solid"/>
          </a:ln>
        </p:spPr>
      </p:sp>
      <p:sp>
        <p:nvSpPr>
          <p:cNvPr id="4" name="Diagram shape 2"/>
          <p:cNvSpPr/>
          <p:nvPr/>
        </p:nvSpPr>
        <p:spPr>
          <a:xfrm>
            <a:off x="11041380" y="2174992"/>
            <a:ext cx="157917" cy="157917"/>
          </a:xfrm>
          <a:custGeom>
            <a:avLst/>
            <a:gdLst/>
            <a:ahLst/>
            <a:cxnLst/>
            <a:rect l="l" t="t" r="r" b="b"/>
            <a:pathLst>
              <a:path w="157917" h="157917">
                <a:moveTo>
                  <a:pt x="0" y="157917"/>
                </a:moveTo>
                <a:lnTo>
                  <a:pt x="0" y="0"/>
                </a:lnTo>
                <a:lnTo>
                  <a:pt x="157917" y="0"/>
                </a:lnTo>
              </a:path>
            </a:pathLst>
          </a:custGeom>
          <a:noFill/>
          <a:ln w="15748">
            <a:solidFill>
              <a:schemeClr val="tx1"/>
            </a:solidFill>
            <a:prstDash val="solid"/>
          </a:ln>
        </p:spPr>
      </p:sp>
      <p:sp>
        <p:nvSpPr>
          <p:cNvPr id="5" name="Diagram shape 3"/>
          <p:cNvSpPr/>
          <p:nvPr/>
        </p:nvSpPr>
        <p:spPr>
          <a:xfrm>
            <a:off x="7282739" y="2108149"/>
            <a:ext cx="47823" cy="224760"/>
          </a:xfrm>
          <a:custGeom>
            <a:avLst/>
            <a:gdLst/>
            <a:ahLst/>
            <a:cxnLst/>
            <a:rect l="l" t="t" r="r" b="b"/>
            <a:pathLst>
              <a:path w="47823" h="224760">
                <a:moveTo>
                  <a:pt x="47823" y="224760"/>
                </a:moveTo>
                <a:lnTo>
                  <a:pt x="47549" y="210312"/>
                </a:lnTo>
                <a:lnTo>
                  <a:pt x="47000" y="195864"/>
                </a:lnTo>
                <a:lnTo>
                  <a:pt x="46086" y="181417"/>
                </a:lnTo>
                <a:lnTo>
                  <a:pt x="44714" y="167061"/>
                </a:lnTo>
                <a:lnTo>
                  <a:pt x="43068" y="152613"/>
                </a:lnTo>
                <a:lnTo>
                  <a:pt x="40965" y="138349"/>
                </a:lnTo>
                <a:lnTo>
                  <a:pt x="38496" y="124084"/>
                </a:lnTo>
                <a:lnTo>
                  <a:pt x="35662" y="109911"/>
                </a:lnTo>
                <a:lnTo>
                  <a:pt x="32553" y="95738"/>
                </a:lnTo>
                <a:lnTo>
                  <a:pt x="28986" y="81747"/>
                </a:lnTo>
                <a:lnTo>
                  <a:pt x="25055" y="67848"/>
                </a:lnTo>
                <a:lnTo>
                  <a:pt x="20757" y="54041"/>
                </a:lnTo>
                <a:lnTo>
                  <a:pt x="16093" y="40325"/>
                </a:lnTo>
                <a:lnTo>
                  <a:pt x="11064" y="26700"/>
                </a:lnTo>
                <a:lnTo>
                  <a:pt x="5669" y="13259"/>
                </a:lnTo>
                <a:lnTo>
                  <a:pt x="0" y="0"/>
                </a:lnTo>
              </a:path>
            </a:pathLst>
          </a:custGeom>
          <a:noFill/>
          <a:ln w="15748">
            <a:solidFill>
              <a:schemeClr val="tx1"/>
            </a:solidFill>
            <a:prstDash val="solid"/>
          </a:ln>
        </p:spPr>
      </p:sp>
      <p:sp>
        <p:nvSpPr>
          <p:cNvPr id="6" name="Diagram label 4"/>
          <p:cNvSpPr txBox="1"/>
          <p:nvPr/>
        </p:nvSpPr>
        <p:spPr>
          <a:xfrm>
            <a:off x="7395667" y="2068190"/>
            <a:ext cx="245791" cy="26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16" dirty="0">
                <a:solidFill>
                  <a:schemeClr val="tx1"/>
                </a:solidFill>
              </a:rPr>
              <a:t>α</a:t>
            </a:r>
            <a:endParaRPr lang="en-US" sz="1616" dirty="0"/>
          </a:p>
        </p:txBody>
      </p:sp>
      <p:sp>
        <p:nvSpPr>
          <p:cNvPr id="7" name="Diagram label 5"/>
          <p:cNvSpPr txBox="1"/>
          <p:nvPr/>
        </p:nvSpPr>
        <p:spPr>
          <a:xfrm>
            <a:off x="10364084" y="203728"/>
            <a:ext cx="265359" cy="3078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65" dirty="0">
                <a:solidFill>
                  <a:schemeClr val="tx1"/>
                </a:solidFill>
              </a:rPr>
              <a:t>d</a:t>
            </a:r>
            <a:endParaRPr lang="en-US" sz="1865" dirty="0"/>
          </a:p>
        </p:txBody>
      </p:sp>
      <p:sp>
        <p:nvSpPr>
          <p:cNvPr id="8" name="Diagram label 6"/>
          <p:cNvSpPr txBox="1"/>
          <p:nvPr/>
        </p:nvSpPr>
        <p:spPr>
          <a:xfrm>
            <a:off x="11309756" y="1194664"/>
            <a:ext cx="265359" cy="307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65" dirty="0">
                <a:solidFill>
                  <a:schemeClr val="tx1"/>
                </a:solidFill>
              </a:rPr>
              <a:t>h</a:t>
            </a:r>
            <a:endParaRPr lang="en-US" sz="1865" dirty="0"/>
          </a:p>
        </p:txBody>
      </p:sp>
      <p:sp>
        <p:nvSpPr>
          <p:cNvPr id="9" name="Diagram Particle 7"/>
          <p:cNvSpPr/>
          <p:nvPr/>
        </p:nvSpPr>
        <p:spPr>
          <a:xfrm>
            <a:off x="8231246" y="927110"/>
            <a:ext cx="667146" cy="667146"/>
          </a:xfrm>
          <a:custGeom>
            <a:avLst/>
            <a:gdLst/>
            <a:ahLst/>
            <a:cxnLst/>
            <a:rect l="l" t="t" r="r" b="b"/>
            <a:pathLst>
              <a:path w="667146" h="667146">
                <a:moveTo>
                  <a:pt x="205557" y="667146"/>
                </a:moveTo>
                <a:lnTo>
                  <a:pt x="667146" y="461589"/>
                </a:lnTo>
                <a:lnTo>
                  <a:pt x="461589" y="0"/>
                </a:lnTo>
                <a:lnTo>
                  <a:pt x="0" y="205557"/>
                </a:lnTo>
                <a:close/>
              </a:path>
            </a:pathLst>
          </a:custGeom>
          <a:solidFill>
            <a:schemeClr val="bg1"/>
          </a:solidFill>
          <a:ln w="23749">
            <a:solidFill>
              <a:schemeClr val="accent1"/>
            </a:solidFill>
            <a:prstDash val="solid"/>
          </a:ln>
        </p:spPr>
      </p:sp>
      <p:sp>
        <p:nvSpPr>
          <p:cNvPr id="10" name="Diagram arrow 8"/>
          <p:cNvSpPr/>
          <p:nvPr/>
        </p:nvSpPr>
        <p:spPr>
          <a:xfrm>
            <a:off x="8564819" y="1260683"/>
            <a:ext cx="0" cy="828995"/>
          </a:xfrm>
          <a:prstGeom prst="line">
            <a:avLst/>
          </a:prstGeom>
          <a:noFill/>
          <a:ln w="27686">
            <a:solidFill>
              <a:schemeClr val="accent1"/>
            </a:solidFill>
            <a:prstDash val="solid"/>
            <a:tailEnd type="triangle" w="lg" len="lg"/>
          </a:ln>
        </p:spPr>
      </p:sp>
      <p:sp>
        <p:nvSpPr>
          <p:cNvPr id="11" name="Diagram label 9"/>
          <p:cNvSpPr txBox="1"/>
          <p:nvPr/>
        </p:nvSpPr>
        <p:spPr>
          <a:xfrm>
            <a:off x="8093172" y="1851294"/>
            <a:ext cx="392643" cy="28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41" dirty="0">
                <a:solidFill>
                  <a:schemeClr val="accent1"/>
                </a:solidFill>
              </a:rPr>
              <a:t>mg</a:t>
            </a:r>
            <a:endParaRPr lang="en-US" sz="1741" dirty="0"/>
          </a:p>
        </p:txBody>
      </p:sp>
      <p:sp>
        <p:nvSpPr>
          <p:cNvPr id="12" name="Diagram arrow 10"/>
          <p:cNvSpPr/>
          <p:nvPr/>
        </p:nvSpPr>
        <p:spPr>
          <a:xfrm flipH="1">
            <a:off x="7879568" y="1260683"/>
            <a:ext cx="685251" cy="305044"/>
          </a:xfrm>
          <a:prstGeom prst="line">
            <a:avLst/>
          </a:prstGeom>
          <a:noFill/>
          <a:ln w="27686">
            <a:solidFill>
              <a:schemeClr val="accent1"/>
            </a:solidFill>
            <a:prstDash val="dash"/>
            <a:tailEnd type="triangle" w="lg" len="lg"/>
          </a:ln>
        </p:spPr>
      </p:sp>
      <p:sp>
        <p:nvSpPr>
          <p:cNvPr id="13" name="Diagram label 11"/>
          <p:cNvSpPr txBox="1"/>
          <p:nvPr/>
        </p:nvSpPr>
        <p:spPr>
          <a:xfrm>
            <a:off x="6641927" y="1395192"/>
            <a:ext cx="1136691" cy="2668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616" dirty="0">
                <a:solidFill>
                  <a:schemeClr val="accent1"/>
                </a:solidFill>
              </a:rPr>
              <a:t>mg sin α</a:t>
            </a:r>
            <a:endParaRPr lang="en-US" sz="1616" dirty="0"/>
          </a:p>
        </p:txBody>
      </p:sp>
      <p:sp>
        <p:nvSpPr>
          <p:cNvPr id="14" name="Diagram arrow 12"/>
          <p:cNvSpPr/>
          <p:nvPr/>
        </p:nvSpPr>
        <p:spPr>
          <a:xfrm>
            <a:off x="8564819" y="1260683"/>
            <a:ext cx="256946" cy="576986"/>
          </a:xfrm>
          <a:prstGeom prst="line">
            <a:avLst/>
          </a:prstGeom>
          <a:noFill/>
          <a:ln w="27686">
            <a:solidFill>
              <a:schemeClr val="accent1"/>
            </a:solidFill>
            <a:prstDash val="dash"/>
            <a:tailEnd type="triangle" w="lg" len="lg"/>
          </a:ln>
        </p:spPr>
      </p:sp>
      <p:sp>
        <p:nvSpPr>
          <p:cNvPr id="15" name="Diagram label 13"/>
          <p:cNvSpPr txBox="1"/>
          <p:nvPr/>
        </p:nvSpPr>
        <p:spPr>
          <a:xfrm>
            <a:off x="8866662" y="1914114"/>
            <a:ext cx="1136691" cy="266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16" dirty="0">
                <a:solidFill>
                  <a:schemeClr val="accent1"/>
                </a:solidFill>
              </a:rPr>
              <a:t>mg cos α</a:t>
            </a:r>
            <a:endParaRPr lang="en-US" sz="1616" dirty="0"/>
          </a:p>
        </p:txBody>
      </p:sp>
      <p:sp>
        <p:nvSpPr>
          <p:cNvPr id="16" name="Show that"/>
          <p:cNvSpPr txBox="1"/>
          <p:nvPr/>
        </p:nvSpPr>
        <p:spPr>
          <a:xfrm>
            <a:off x="6231453" y="2514600"/>
            <a:ext cx="5757337" cy="359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67" dirty="0">
                <a:solidFill>
                  <a:schemeClr val="tx1"/>
                </a:solidFill>
              </a:rPr>
              <a:t>Show that the work done against gravity is mgh</a:t>
            </a:r>
            <a:endParaRPr lang="en-US" sz="1867" dirty="0"/>
          </a:p>
        </p:txBody>
      </p:sp>
      <p:sp>
        <p:nvSpPr>
          <p:cNvPr id="17" name="Show button"/>
          <p:cNvSpPr/>
          <p:nvPr/>
        </p:nvSpPr>
        <p:spPr>
          <a:xfrm>
            <a:off x="6231453" y="2924800"/>
            <a:ext cx="846643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Show</a:t>
            </a:r>
            <a:endParaRPr lang="en-US" sz="1600" dirty="0"/>
          </a:p>
        </p:txBody>
      </p:sp>
      <p:sp>
        <p:nvSpPr>
          <p:cNvPr id="18" name="Hide button"/>
          <p:cNvSpPr/>
          <p:nvPr/>
        </p:nvSpPr>
        <p:spPr>
          <a:xfrm>
            <a:off x="7196694" y="2924800"/>
            <a:ext cx="778977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Hide</a:t>
            </a:r>
            <a:endParaRPr lang="en-US" sz="1600" dirty="0"/>
          </a:p>
        </p:txBody>
      </p:sp>
      <p:sp>
        <p:nvSpPr>
          <p:cNvPr id="19" name="Solution text"/>
          <p:cNvSpPr txBox="1"/>
          <p:nvPr/>
        </p:nvSpPr>
        <p:spPr>
          <a:xfrm>
            <a:off x="6231453" y="3466673"/>
            <a:ext cx="5757337" cy="1403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Resolve the weight parallel to the slope.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Component of the weight down the slope = mg sin α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Work done against gravity = force × distance = mg sin α × d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From the triangle, sin α = </a:t>
            </a:r>
            <a:r>
              <a:rPr lang="en-US" sz="1467" baseline="30000" dirty="0">
                <a:solidFill>
                  <a:schemeClr val="accent1"/>
                </a:solidFill>
              </a:rPr>
              <a:t>h</a:t>
            </a:r>
            <a:r>
              <a:rPr lang="en-US" sz="1467" dirty="0">
                <a:solidFill>
                  <a:schemeClr val="accent1"/>
                </a:solidFill>
              </a:rPr>
              <a:t>⁄</a:t>
            </a:r>
            <a:r>
              <a:rPr lang="en-US" sz="1467" baseline="-8000" dirty="0">
                <a:solidFill>
                  <a:schemeClr val="accent1"/>
                </a:solidFill>
              </a:rPr>
              <a:t>d</a:t>
            </a:r>
            <a:r>
              <a:rPr lang="en-US" sz="1467" dirty="0">
                <a:solidFill>
                  <a:schemeClr val="accent1"/>
                </a:solidFill>
              </a:rPr>
              <a:t> so h = d sin α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Work done against gravity = mg(d sin α) = mgh</a:t>
            </a:r>
            <a:endParaRPr lang="en-US" sz="1467" dirty="0"/>
          </a:p>
        </p:txBody>
      </p:sp>
      <p:sp>
        <p:nvSpPr>
          <p:cNvPr id="20" name="Previous slide">
            <a:hlinkClick r:id="" action="ppaction://hlinkshowjump?jump=previousslide"/>
          </p:cNvPr>
          <p:cNvSpPr txBox="1"/>
          <p:nvPr/>
        </p:nvSpPr>
        <p:spPr>
          <a:xfrm>
            <a:off x="2031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Previous</a:t>
            </a:r>
            <a:endParaRPr lang="en-US" sz="1600" dirty="0"/>
          </a:p>
        </p:txBody>
      </p:sp>
      <p:sp>
        <p:nvSpPr>
          <p:cNvPr id="21" name="Next slide">
            <a:hlinkClick r:id="" action="ppaction://hlinkshowjump?jump=nextslide"/>
          </p:cNvPr>
          <p:cNvSpPr txBox="1"/>
          <p:nvPr/>
        </p:nvSpPr>
        <p:spPr>
          <a:xfrm>
            <a:off x="107187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Next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9" grpId="0"/>
      <p:bldP spid="19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237104" y="220096"/>
            <a:ext cx="5587990" cy="5503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Work done against friction on a rough slope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Resolving perpendicular to the plane gives R = mg cos α.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When the particle is moving, friction is limiting, so F = μR. Friction acts down the slope when the particle moves up it.</a:t>
            </a:r>
            <a:endParaRPr lang="en-US" sz="1400" dirty="0"/>
          </a:p>
          <a:p>
            <a:pPr algn="ctr" indent="0" marL="0">
              <a:lnSpc>
                <a:spcPts val="2070"/>
              </a:lnSpc>
              <a:spcBef>
                <a:spcPts val="267"/>
              </a:spcBef>
              <a:spcAft>
                <a:spcPts val="1067"/>
              </a:spcAft>
              <a:buNone/>
            </a:pPr>
            <a:r>
              <a:rPr lang="en-US" sz="1533" dirty="0">
                <a:solidFill>
                  <a:schemeClr val="tx1"/>
                </a:solidFill>
              </a:rPr>
              <a:t>Work done against friction = μR × d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Moving at a constant speed means there is no acceleration, so the forces parallel to the slope balance.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When solving problems on a ramp, always: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Draw a force diagram showing R, F, the weight and any pulling force.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a right-angled triangle to find exact values of sin α and cos α.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Resolve perpendicular to the plane to find R.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F = μR when the particle is moving.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the vertical height h for the work done against gravity.</a:t>
            </a:r>
            <a:endParaRPr lang="en-US" sz="1400" dirty="0"/>
          </a:p>
        </p:txBody>
      </p:sp>
      <p:sp>
        <p:nvSpPr>
          <p:cNvPr id="3" name="Diagram Ramp 1"/>
          <p:cNvSpPr/>
          <p:nvPr/>
        </p:nvSpPr>
        <p:spPr>
          <a:xfrm>
            <a:off x="7265365" y="209123"/>
            <a:ext cx="3689513" cy="2130186"/>
          </a:xfrm>
          <a:custGeom>
            <a:avLst/>
            <a:gdLst/>
            <a:ahLst/>
            <a:cxnLst/>
            <a:rect l="l" t="t" r="r" b="b"/>
            <a:pathLst>
              <a:path w="3689513" h="2130186">
                <a:moveTo>
                  <a:pt x="0" y="2130186"/>
                </a:moveTo>
                <a:lnTo>
                  <a:pt x="3689513" y="2130186"/>
                </a:lnTo>
                <a:lnTo>
                  <a:pt x="3689513" y="0"/>
                </a:lnTo>
                <a:close/>
              </a:path>
            </a:pathLst>
          </a:custGeom>
          <a:solidFill>
            <a:srgbClr val="C2D9E5"/>
          </a:solidFill>
          <a:ln w="21336">
            <a:solidFill>
              <a:schemeClr val="tx1"/>
            </a:solidFill>
            <a:prstDash val="solid"/>
          </a:ln>
        </p:spPr>
      </p:sp>
      <p:sp>
        <p:nvSpPr>
          <p:cNvPr id="4" name="Diagram shape 2"/>
          <p:cNvSpPr/>
          <p:nvPr/>
        </p:nvSpPr>
        <p:spPr>
          <a:xfrm>
            <a:off x="10812963" y="2197395"/>
            <a:ext cx="141915" cy="141915"/>
          </a:xfrm>
          <a:custGeom>
            <a:avLst/>
            <a:gdLst/>
            <a:ahLst/>
            <a:cxnLst/>
            <a:rect l="l" t="t" r="r" b="b"/>
            <a:pathLst>
              <a:path w="141915" h="141915">
                <a:moveTo>
                  <a:pt x="0" y="141915"/>
                </a:moveTo>
                <a:lnTo>
                  <a:pt x="0" y="0"/>
                </a:lnTo>
                <a:lnTo>
                  <a:pt x="141915" y="0"/>
                </a:lnTo>
              </a:path>
            </a:pathLst>
          </a:custGeom>
          <a:noFill/>
          <a:ln w="14224">
            <a:solidFill>
              <a:schemeClr val="tx1"/>
            </a:solidFill>
            <a:prstDash val="solid"/>
          </a:ln>
        </p:spPr>
      </p:sp>
      <p:sp>
        <p:nvSpPr>
          <p:cNvPr id="5" name="Diagram shape 3"/>
          <p:cNvSpPr/>
          <p:nvPr/>
        </p:nvSpPr>
        <p:spPr>
          <a:xfrm>
            <a:off x="7695499" y="2090958"/>
            <a:ext cx="66568" cy="248351"/>
          </a:xfrm>
          <a:custGeom>
            <a:avLst/>
            <a:gdLst/>
            <a:ahLst/>
            <a:cxnLst/>
            <a:rect l="l" t="t" r="r" b="b"/>
            <a:pathLst>
              <a:path w="66568" h="248351">
                <a:moveTo>
                  <a:pt x="66568" y="248351"/>
                </a:moveTo>
                <a:lnTo>
                  <a:pt x="66294" y="232075"/>
                </a:lnTo>
                <a:lnTo>
                  <a:pt x="65471" y="215890"/>
                </a:lnTo>
                <a:lnTo>
                  <a:pt x="64191" y="199614"/>
                </a:lnTo>
                <a:lnTo>
                  <a:pt x="62271" y="183520"/>
                </a:lnTo>
                <a:lnTo>
                  <a:pt x="59893" y="167427"/>
                </a:lnTo>
                <a:lnTo>
                  <a:pt x="56967" y="151425"/>
                </a:lnTo>
                <a:lnTo>
                  <a:pt x="53584" y="135514"/>
                </a:lnTo>
                <a:lnTo>
                  <a:pt x="49652" y="119786"/>
                </a:lnTo>
                <a:lnTo>
                  <a:pt x="45171" y="104150"/>
                </a:lnTo>
                <a:lnTo>
                  <a:pt x="40142" y="88697"/>
                </a:lnTo>
                <a:lnTo>
                  <a:pt x="34747" y="73426"/>
                </a:lnTo>
                <a:lnTo>
                  <a:pt x="28712" y="58247"/>
                </a:lnTo>
                <a:lnTo>
                  <a:pt x="22311" y="43343"/>
                </a:lnTo>
                <a:lnTo>
                  <a:pt x="15362" y="28621"/>
                </a:lnTo>
                <a:lnTo>
                  <a:pt x="7864" y="14173"/>
                </a:lnTo>
                <a:lnTo>
                  <a:pt x="0" y="0"/>
                </a:lnTo>
              </a:path>
            </a:pathLst>
          </a:custGeom>
          <a:noFill/>
          <a:ln w="14224">
            <a:solidFill>
              <a:schemeClr val="tx1"/>
            </a:solidFill>
            <a:prstDash val="solid"/>
          </a:ln>
        </p:spPr>
      </p:sp>
      <p:sp>
        <p:nvSpPr>
          <p:cNvPr id="6" name="Diagram label 4"/>
          <p:cNvSpPr txBox="1"/>
          <p:nvPr/>
        </p:nvSpPr>
        <p:spPr>
          <a:xfrm>
            <a:off x="7813639" y="2072488"/>
            <a:ext cx="232898" cy="2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3" dirty="0">
                <a:solidFill>
                  <a:schemeClr val="tx1"/>
                </a:solidFill>
              </a:rPr>
              <a:t>α</a:t>
            </a:r>
            <a:endParaRPr lang="en-US" sz="1453" dirty="0"/>
          </a:p>
        </p:txBody>
      </p:sp>
      <p:sp>
        <p:nvSpPr>
          <p:cNvPr id="7" name="Diagram Particle 5"/>
          <p:cNvSpPr/>
          <p:nvPr/>
        </p:nvSpPr>
        <p:spPr>
          <a:xfrm>
            <a:off x="8390169" y="938540"/>
            <a:ext cx="620329" cy="620329"/>
          </a:xfrm>
          <a:custGeom>
            <a:avLst/>
            <a:gdLst/>
            <a:ahLst/>
            <a:cxnLst/>
            <a:rect l="l" t="t" r="r" b="b"/>
            <a:pathLst>
              <a:path w="620329" h="620329">
                <a:moveTo>
                  <a:pt x="227046" y="620329"/>
                </a:moveTo>
                <a:lnTo>
                  <a:pt x="620329" y="393283"/>
                </a:lnTo>
                <a:lnTo>
                  <a:pt x="393283" y="0"/>
                </a:lnTo>
                <a:lnTo>
                  <a:pt x="0" y="227046"/>
                </a:lnTo>
                <a:close/>
              </a:path>
            </a:pathLst>
          </a:custGeom>
          <a:solidFill>
            <a:schemeClr val="bg1"/>
          </a:solidFill>
          <a:ln w="21336">
            <a:solidFill>
              <a:schemeClr val="accent1"/>
            </a:solidFill>
            <a:prstDash val="solid"/>
          </a:ln>
        </p:spPr>
      </p:sp>
      <p:sp>
        <p:nvSpPr>
          <p:cNvPr id="8" name="Diagram arrow 6"/>
          <p:cNvSpPr/>
          <p:nvPr/>
        </p:nvSpPr>
        <p:spPr>
          <a:xfrm flipV="1">
            <a:off x="8896929" y="780349"/>
            <a:ext cx="614477" cy="354787"/>
          </a:xfrm>
          <a:prstGeom prst="line">
            <a:avLst/>
          </a:prstGeom>
          <a:noFill/>
          <a:ln w="24892">
            <a:solidFill>
              <a:schemeClr val="accent2"/>
            </a:solidFill>
            <a:prstDash val="solid"/>
            <a:tailEnd type="triangle" w="lg" len="lg"/>
          </a:ln>
        </p:spPr>
      </p:sp>
      <p:sp>
        <p:nvSpPr>
          <p:cNvPr id="9" name="Diagram label 7"/>
          <p:cNvSpPr txBox="1"/>
          <p:nvPr/>
        </p:nvSpPr>
        <p:spPr>
          <a:xfrm>
            <a:off x="9597451" y="537027"/>
            <a:ext cx="232898" cy="23984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53" dirty="0">
                <a:solidFill>
                  <a:schemeClr val="accent2"/>
                </a:solidFill>
              </a:rPr>
              <a:t>T</a:t>
            </a:r>
            <a:endParaRPr lang="en-US" sz="1453" dirty="0"/>
          </a:p>
        </p:txBody>
      </p:sp>
      <p:sp>
        <p:nvSpPr>
          <p:cNvPr id="10" name="Diagram arrow 8"/>
          <p:cNvSpPr/>
          <p:nvPr/>
        </p:nvSpPr>
        <p:spPr>
          <a:xfrm flipH="1">
            <a:off x="7981340" y="1362182"/>
            <a:ext cx="522305" cy="301569"/>
          </a:xfrm>
          <a:prstGeom prst="line">
            <a:avLst/>
          </a:prstGeom>
          <a:noFill/>
          <a:ln w="24892">
            <a:solidFill>
              <a:schemeClr val="accent3"/>
            </a:solidFill>
            <a:prstDash val="solid"/>
            <a:tailEnd type="triangle" w="lg" len="lg"/>
          </a:ln>
        </p:spPr>
      </p:sp>
      <p:sp>
        <p:nvSpPr>
          <p:cNvPr id="11" name="Diagram label 9"/>
          <p:cNvSpPr txBox="1"/>
          <p:nvPr/>
        </p:nvSpPr>
        <p:spPr>
          <a:xfrm>
            <a:off x="7662489" y="1691274"/>
            <a:ext cx="232898" cy="239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53" dirty="0">
                <a:solidFill>
                  <a:schemeClr val="accent3"/>
                </a:solidFill>
              </a:rPr>
              <a:t>F</a:t>
            </a:r>
            <a:endParaRPr lang="en-US" sz="1453" dirty="0"/>
          </a:p>
        </p:txBody>
      </p:sp>
      <p:sp>
        <p:nvSpPr>
          <p:cNvPr id="12" name="Diagram arrow 10"/>
          <p:cNvSpPr/>
          <p:nvPr/>
        </p:nvSpPr>
        <p:spPr>
          <a:xfrm flipH="1" flipV="1">
            <a:off x="8285196" y="529712"/>
            <a:ext cx="301569" cy="522305"/>
          </a:xfrm>
          <a:prstGeom prst="line">
            <a:avLst/>
          </a:prstGeom>
          <a:noFill/>
          <a:ln w="24892">
            <a:solidFill>
              <a:schemeClr val="accent4"/>
            </a:solidFill>
            <a:prstDash val="solid"/>
            <a:tailEnd type="triangle" w="lg" len="lg"/>
          </a:ln>
        </p:spPr>
      </p:sp>
      <p:sp>
        <p:nvSpPr>
          <p:cNvPr id="13" name="Diagram label 11"/>
          <p:cNvSpPr txBox="1"/>
          <p:nvPr/>
        </p:nvSpPr>
        <p:spPr>
          <a:xfrm>
            <a:off x="8002646" y="249997"/>
            <a:ext cx="232898" cy="23984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453" dirty="0">
                <a:solidFill>
                  <a:schemeClr val="accent4"/>
                </a:solidFill>
              </a:rPr>
              <a:t>R</a:t>
            </a:r>
            <a:endParaRPr lang="en-US" sz="1453" dirty="0"/>
          </a:p>
        </p:txBody>
      </p:sp>
      <p:sp>
        <p:nvSpPr>
          <p:cNvPr id="14" name="Diagram arrow 12"/>
          <p:cNvSpPr/>
          <p:nvPr/>
        </p:nvSpPr>
        <p:spPr>
          <a:xfrm>
            <a:off x="8813810" y="1445301"/>
            <a:ext cx="0" cy="638526"/>
          </a:xfrm>
          <a:prstGeom prst="line">
            <a:avLst/>
          </a:prstGeom>
          <a:noFill/>
          <a:ln w="24892">
            <a:solidFill>
              <a:schemeClr val="accent1"/>
            </a:solidFill>
            <a:prstDash val="solid"/>
            <a:tailEnd type="triangle" w="lg" len="lg"/>
          </a:ln>
        </p:spPr>
      </p:sp>
      <p:sp>
        <p:nvSpPr>
          <p:cNvPr id="15" name="Diagram label 13"/>
          <p:cNvSpPr txBox="1"/>
          <p:nvPr/>
        </p:nvSpPr>
        <p:spPr>
          <a:xfrm>
            <a:off x="8884768" y="1878818"/>
            <a:ext cx="347289" cy="23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3" dirty="0">
                <a:solidFill>
                  <a:schemeClr val="accent1"/>
                </a:solidFill>
              </a:rPr>
              <a:t>mg</a:t>
            </a:r>
            <a:endParaRPr lang="en-US" sz="1453" dirty="0"/>
          </a:p>
        </p:txBody>
      </p:sp>
      <p:sp>
        <p:nvSpPr>
          <p:cNvPr id="16" name="Show that"/>
          <p:cNvSpPr txBox="1"/>
          <p:nvPr/>
        </p:nvSpPr>
        <p:spPr>
          <a:xfrm>
            <a:off x="6231453" y="2514600"/>
            <a:ext cx="5757337" cy="97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67" dirty="0">
                <a:solidFill>
                  <a:schemeClr val="tx1"/>
                </a:solidFill>
              </a:rPr>
              <a:t>Show that the work done by T in pulling the particle a distance d up the slope at a constant speed is mgd(sin α + μ cos α)</a:t>
            </a:r>
            <a:endParaRPr lang="en-US" sz="1867" dirty="0"/>
          </a:p>
        </p:txBody>
      </p:sp>
      <p:sp>
        <p:nvSpPr>
          <p:cNvPr id="17" name="Show button"/>
          <p:cNvSpPr/>
          <p:nvPr/>
        </p:nvSpPr>
        <p:spPr>
          <a:xfrm>
            <a:off x="6231453" y="3542111"/>
            <a:ext cx="846643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Show</a:t>
            </a:r>
            <a:endParaRPr lang="en-US" sz="1600" dirty="0"/>
          </a:p>
        </p:txBody>
      </p:sp>
      <p:sp>
        <p:nvSpPr>
          <p:cNvPr id="18" name="Hide button"/>
          <p:cNvSpPr/>
          <p:nvPr/>
        </p:nvSpPr>
        <p:spPr>
          <a:xfrm>
            <a:off x="7196694" y="3542111"/>
            <a:ext cx="778977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Hide</a:t>
            </a:r>
            <a:endParaRPr lang="en-US" sz="1600" dirty="0"/>
          </a:p>
        </p:txBody>
      </p:sp>
      <p:sp>
        <p:nvSpPr>
          <p:cNvPr id="19" name="Solution text"/>
          <p:cNvSpPr txBox="1"/>
          <p:nvPr/>
        </p:nvSpPr>
        <p:spPr>
          <a:xfrm>
            <a:off x="6231453" y="4083985"/>
            <a:ext cx="5757337" cy="1403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Resolve perpendicular to the slope: R = mg cos α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Friction is limiting: F = μR = μmg cos α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Resolve parallel to the slope (constant speed, so the forces balance):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T = F + mg sin α = mg(sin α + μ cos α)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Work done by T = T × d = mgd(sin α + μ cos α)</a:t>
            </a:r>
            <a:endParaRPr lang="en-US" sz="1467" dirty="0"/>
          </a:p>
        </p:txBody>
      </p:sp>
      <p:sp>
        <p:nvSpPr>
          <p:cNvPr id="20" name="Previous slide">
            <a:hlinkClick r:id="" action="ppaction://hlinkshowjump?jump=previousslide"/>
          </p:cNvPr>
          <p:cNvSpPr txBox="1"/>
          <p:nvPr/>
        </p:nvSpPr>
        <p:spPr>
          <a:xfrm>
            <a:off x="2031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Previous</a:t>
            </a:r>
            <a:endParaRPr lang="en-US" sz="1600" dirty="0"/>
          </a:p>
        </p:txBody>
      </p:sp>
      <p:sp>
        <p:nvSpPr>
          <p:cNvPr id="21" name="Next slide">
            <a:hlinkClick r:id="" action="ppaction://hlinkshowjump?jump=nextslide"/>
          </p:cNvPr>
          <p:cNvSpPr txBox="1"/>
          <p:nvPr/>
        </p:nvSpPr>
        <p:spPr>
          <a:xfrm>
            <a:off x="107187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Next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9" grpId="0"/>
      <p:bldP spid="1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237104" y="203180"/>
            <a:ext cx="5418643" cy="279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1. A rough plane is inclined at an angle α to the horizontal, where tan α = </a:t>
            </a:r>
            <a:r>
              <a:rPr lang="en-US" sz="1667" baseline="30000" dirty="0">
                <a:solidFill>
                  <a:schemeClr val="tx2"/>
                </a:solidFill>
              </a:rPr>
              <a:t>8</a:t>
            </a:r>
            <a:r>
              <a:rPr lang="en-US" sz="1667" dirty="0">
                <a:solidFill>
                  <a:schemeClr val="tx2"/>
                </a:solidFill>
              </a:rPr>
              <a:t>⁄</a:t>
            </a:r>
            <a:r>
              <a:rPr lang="en-US" sz="1667" baseline="-8000" dirty="0">
                <a:solidFill>
                  <a:schemeClr val="tx2"/>
                </a:solidFill>
              </a:rPr>
              <a:t>15</a:t>
            </a:r>
            <a:r>
              <a:rPr lang="en-US" sz="1667" dirty="0">
                <a:solidFill>
                  <a:schemeClr val="tx2"/>
                </a:solidFill>
              </a:rPr>
              <a:t>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A box of mass 6 kg is pulled at a constant speed up a line of greatest slope of the plane.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The coefficient of friction between the box and the plane is 0.4.</a:t>
            </a:r>
            <a:endParaRPr lang="en-US" sz="1667" dirty="0"/>
          </a:p>
        </p:txBody>
      </p:sp>
      <p:sp>
        <p:nvSpPr>
          <p:cNvPr id="3" name="Find"/>
          <p:cNvSpPr/>
          <p:nvPr/>
        </p:nvSpPr>
        <p:spPr>
          <a:xfrm>
            <a:off x="237104" y="2285726"/>
            <a:ext cx="5418643" cy="2167494"/>
          </a:xfrm>
          <a:prstGeom prst="roundRect">
            <a:avLst>
              <a:gd name="adj" fmla="val 3126"/>
            </a:avLst>
          </a:prstGeom>
          <a:solidFill>
            <a:schemeClr val="bg2"/>
          </a:solidFill>
          <a:ln/>
        </p:spPr>
        <p:txBody>
          <a:bodyPr wrap="square" lIns="135509" tIns="118491" rIns="135509" bIns="118491" rtlCol="0" anchor="t"/>
          <a:lstStyle/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a) Calculate the magnitude of the frictional force acting on the box.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The box moves a distance of 20 m up the plane. Calculate: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b) the work done against friction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c) the work done against gravity.</a:t>
            </a:r>
            <a:endParaRPr lang="en-US" sz="1667" dirty="0"/>
          </a:p>
        </p:txBody>
      </p:sp>
      <p:sp>
        <p:nvSpPr>
          <p:cNvPr id="4" name="Show button"/>
          <p:cNvSpPr/>
          <p:nvPr/>
        </p:nvSpPr>
        <p:spPr>
          <a:xfrm>
            <a:off x="237104" y="4588642"/>
            <a:ext cx="846643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Show</a:t>
            </a:r>
            <a:endParaRPr lang="en-US" sz="1600" dirty="0"/>
          </a:p>
        </p:txBody>
      </p:sp>
      <p:sp>
        <p:nvSpPr>
          <p:cNvPr id="5" name="Hide button"/>
          <p:cNvSpPr/>
          <p:nvPr/>
        </p:nvSpPr>
        <p:spPr>
          <a:xfrm>
            <a:off x="1202253" y="4588642"/>
            <a:ext cx="778977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Hide</a:t>
            </a:r>
            <a:endParaRPr lang="en-US" sz="1600" dirty="0"/>
          </a:p>
        </p:txBody>
      </p:sp>
      <p:sp>
        <p:nvSpPr>
          <p:cNvPr id="6" name="Diagram Ramp 1"/>
          <p:cNvSpPr/>
          <p:nvPr/>
        </p:nvSpPr>
        <p:spPr>
          <a:xfrm>
            <a:off x="6796918" y="203271"/>
            <a:ext cx="4355562" cy="2322942"/>
          </a:xfrm>
          <a:custGeom>
            <a:avLst/>
            <a:gdLst/>
            <a:ahLst/>
            <a:cxnLst/>
            <a:rect l="l" t="t" r="r" b="b"/>
            <a:pathLst>
              <a:path w="4355562" h="2322942">
                <a:moveTo>
                  <a:pt x="0" y="2322942"/>
                </a:moveTo>
                <a:lnTo>
                  <a:pt x="4355562" y="2322942"/>
                </a:lnTo>
                <a:lnTo>
                  <a:pt x="4355562" y="0"/>
                </a:lnTo>
                <a:close/>
              </a:path>
            </a:pathLst>
          </a:custGeom>
          <a:solidFill>
            <a:srgbClr val="C2D9E5"/>
          </a:solidFill>
          <a:ln w="24257">
            <a:solidFill>
              <a:schemeClr val="tx1"/>
            </a:solidFill>
            <a:prstDash val="solid"/>
          </a:ln>
        </p:spPr>
      </p:sp>
      <p:sp>
        <p:nvSpPr>
          <p:cNvPr id="7" name="Diagram shape 2"/>
          <p:cNvSpPr/>
          <p:nvPr/>
        </p:nvSpPr>
        <p:spPr>
          <a:xfrm>
            <a:off x="10991088" y="2364913"/>
            <a:ext cx="161300" cy="161300"/>
          </a:xfrm>
          <a:custGeom>
            <a:avLst/>
            <a:gdLst/>
            <a:ahLst/>
            <a:cxnLst/>
            <a:rect l="l" t="t" r="r" b="b"/>
            <a:pathLst>
              <a:path w="161300" h="161300">
                <a:moveTo>
                  <a:pt x="0" y="161300"/>
                </a:moveTo>
                <a:lnTo>
                  <a:pt x="0" y="0"/>
                </a:lnTo>
                <a:lnTo>
                  <a:pt x="161300" y="0"/>
                </a:lnTo>
              </a:path>
            </a:pathLst>
          </a:custGeom>
          <a:noFill/>
          <a:ln w="16129">
            <a:solidFill>
              <a:schemeClr val="tx1"/>
            </a:solidFill>
            <a:prstDash val="solid"/>
          </a:ln>
        </p:spPr>
      </p:sp>
      <p:sp>
        <p:nvSpPr>
          <p:cNvPr id="8" name="Diagram shape 3"/>
          <p:cNvSpPr/>
          <p:nvPr/>
        </p:nvSpPr>
        <p:spPr>
          <a:xfrm>
            <a:off x="7295083" y="2260580"/>
            <a:ext cx="66385" cy="265725"/>
          </a:xfrm>
          <a:custGeom>
            <a:avLst/>
            <a:gdLst/>
            <a:ahLst/>
            <a:cxnLst/>
            <a:rect l="l" t="t" r="r" b="b"/>
            <a:pathLst>
              <a:path w="66385" h="265725">
                <a:moveTo>
                  <a:pt x="66385" y="265725"/>
                </a:moveTo>
                <a:lnTo>
                  <a:pt x="66203" y="248442"/>
                </a:lnTo>
                <a:lnTo>
                  <a:pt x="65380" y="231160"/>
                </a:lnTo>
                <a:lnTo>
                  <a:pt x="64008" y="213878"/>
                </a:lnTo>
                <a:lnTo>
                  <a:pt x="62179" y="196687"/>
                </a:lnTo>
                <a:lnTo>
                  <a:pt x="59802" y="179588"/>
                </a:lnTo>
                <a:lnTo>
                  <a:pt x="56876" y="162580"/>
                </a:lnTo>
                <a:lnTo>
                  <a:pt x="53492" y="145572"/>
                </a:lnTo>
                <a:lnTo>
                  <a:pt x="49560" y="128748"/>
                </a:lnTo>
                <a:lnTo>
                  <a:pt x="45080" y="112014"/>
                </a:lnTo>
                <a:lnTo>
                  <a:pt x="40142" y="95463"/>
                </a:lnTo>
                <a:lnTo>
                  <a:pt x="34656" y="79096"/>
                </a:lnTo>
                <a:lnTo>
                  <a:pt x="28712" y="62819"/>
                </a:lnTo>
                <a:lnTo>
                  <a:pt x="22311" y="46817"/>
                </a:lnTo>
                <a:lnTo>
                  <a:pt x="15362" y="30998"/>
                </a:lnTo>
                <a:lnTo>
                  <a:pt x="7864" y="15362"/>
                </a:lnTo>
                <a:lnTo>
                  <a:pt x="0" y="0"/>
                </a:lnTo>
              </a:path>
            </a:pathLst>
          </a:custGeom>
          <a:noFill/>
          <a:ln w="16129">
            <a:solidFill>
              <a:schemeClr val="tx1"/>
            </a:solidFill>
            <a:prstDash val="solid"/>
          </a:ln>
        </p:spPr>
      </p:sp>
      <p:sp>
        <p:nvSpPr>
          <p:cNvPr id="9" name="Diagram label 4"/>
          <p:cNvSpPr txBox="1"/>
          <p:nvPr/>
        </p:nvSpPr>
        <p:spPr>
          <a:xfrm>
            <a:off x="7422916" y="2233422"/>
            <a:ext cx="248534" cy="272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1" dirty="0">
                <a:solidFill>
                  <a:schemeClr val="tx1"/>
                </a:solidFill>
              </a:rPr>
              <a:t>α</a:t>
            </a:r>
            <a:endParaRPr lang="en-US" sz="1651" dirty="0"/>
          </a:p>
        </p:txBody>
      </p:sp>
      <p:sp>
        <p:nvSpPr>
          <p:cNvPr id="10" name="Diagram Particle 5"/>
          <p:cNvSpPr/>
          <p:nvPr/>
        </p:nvSpPr>
        <p:spPr>
          <a:xfrm>
            <a:off x="8119689" y="992856"/>
            <a:ext cx="698419" cy="698419"/>
          </a:xfrm>
          <a:custGeom>
            <a:avLst/>
            <a:gdLst/>
            <a:ahLst/>
            <a:cxnLst/>
            <a:rect l="l" t="t" r="r" b="b"/>
            <a:pathLst>
              <a:path w="698419" h="698419">
                <a:moveTo>
                  <a:pt x="242956" y="698419"/>
                </a:moveTo>
                <a:lnTo>
                  <a:pt x="698419" y="455463"/>
                </a:lnTo>
                <a:lnTo>
                  <a:pt x="455463" y="0"/>
                </a:lnTo>
                <a:lnTo>
                  <a:pt x="0" y="242956"/>
                </a:lnTo>
                <a:close/>
              </a:path>
            </a:pathLst>
          </a:custGeom>
          <a:solidFill>
            <a:schemeClr val="bg1"/>
          </a:solidFill>
          <a:ln w="24257">
            <a:solidFill>
              <a:schemeClr val="accent1"/>
            </a:solidFill>
            <a:prstDash val="solid"/>
          </a:ln>
        </p:spPr>
      </p:sp>
      <p:sp>
        <p:nvSpPr>
          <p:cNvPr id="11" name="Diagram label 6"/>
          <p:cNvSpPr txBox="1"/>
          <p:nvPr/>
        </p:nvSpPr>
        <p:spPr>
          <a:xfrm rot="19915651">
            <a:off x="8219633" y="1242395"/>
            <a:ext cx="498622" cy="199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7" dirty="0">
                <a:solidFill>
                  <a:schemeClr val="accent1"/>
                </a:solidFill>
              </a:rPr>
              <a:t>6 kg</a:t>
            </a:r>
            <a:endParaRPr lang="en-US" sz="1207" dirty="0"/>
          </a:p>
        </p:txBody>
      </p:sp>
      <p:sp>
        <p:nvSpPr>
          <p:cNvPr id="12" name="Diagram arrow 7"/>
          <p:cNvSpPr/>
          <p:nvPr/>
        </p:nvSpPr>
        <p:spPr>
          <a:xfrm flipV="1">
            <a:off x="8696676" y="840974"/>
            <a:ext cx="711678" cy="379567"/>
          </a:xfrm>
          <a:prstGeom prst="line">
            <a:avLst/>
          </a:prstGeom>
          <a:noFill/>
          <a:ln w="28194">
            <a:solidFill>
              <a:schemeClr val="accent2"/>
            </a:solidFill>
            <a:prstDash val="solid"/>
            <a:tailEnd type="triangle" w="lg" len="lg"/>
          </a:ln>
        </p:spPr>
      </p:sp>
      <p:sp>
        <p:nvSpPr>
          <p:cNvPr id="13" name="Diagram label 8"/>
          <p:cNvSpPr txBox="1"/>
          <p:nvPr/>
        </p:nvSpPr>
        <p:spPr>
          <a:xfrm>
            <a:off x="9507931" y="567660"/>
            <a:ext cx="248534" cy="2725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51" dirty="0">
                <a:solidFill>
                  <a:schemeClr val="accent2"/>
                </a:solidFill>
              </a:rPr>
              <a:t>T</a:t>
            </a:r>
            <a:endParaRPr lang="en-US" sz="1651" dirty="0"/>
          </a:p>
        </p:txBody>
      </p:sp>
      <p:sp>
        <p:nvSpPr>
          <p:cNvPr id="14" name="Diagram arrow 9"/>
          <p:cNvSpPr/>
          <p:nvPr/>
        </p:nvSpPr>
        <p:spPr>
          <a:xfrm flipH="1">
            <a:off x="7636246" y="1463497"/>
            <a:ext cx="604967" cy="322600"/>
          </a:xfrm>
          <a:prstGeom prst="line">
            <a:avLst/>
          </a:prstGeom>
          <a:noFill/>
          <a:ln w="28194">
            <a:solidFill>
              <a:schemeClr val="accent3"/>
            </a:solidFill>
            <a:prstDash val="solid"/>
            <a:tailEnd type="triangle" w="lg" len="lg"/>
          </a:ln>
        </p:spPr>
      </p:sp>
      <p:sp>
        <p:nvSpPr>
          <p:cNvPr id="15" name="Diagram label 10"/>
          <p:cNvSpPr txBox="1"/>
          <p:nvPr/>
        </p:nvSpPr>
        <p:spPr>
          <a:xfrm>
            <a:off x="7288042" y="1814078"/>
            <a:ext cx="248534" cy="27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1" dirty="0">
                <a:solidFill>
                  <a:schemeClr val="accent3"/>
                </a:solidFill>
              </a:rPr>
              <a:t>F</a:t>
            </a:r>
            <a:endParaRPr lang="en-US" sz="1651" dirty="0"/>
          </a:p>
        </p:txBody>
      </p:sp>
      <p:sp>
        <p:nvSpPr>
          <p:cNvPr id="16" name="Diagram arrow 11"/>
          <p:cNvSpPr/>
          <p:nvPr/>
        </p:nvSpPr>
        <p:spPr>
          <a:xfrm flipH="1" flipV="1">
            <a:off x="8024774" y="509321"/>
            <a:ext cx="322600" cy="604967"/>
          </a:xfrm>
          <a:prstGeom prst="line">
            <a:avLst/>
          </a:prstGeom>
          <a:noFill/>
          <a:ln w="28194">
            <a:solidFill>
              <a:schemeClr val="accent4"/>
            </a:solidFill>
            <a:prstDash val="solid"/>
            <a:tailEnd type="triangle" w="lg" len="lg"/>
          </a:ln>
        </p:spPr>
      </p:sp>
      <p:sp>
        <p:nvSpPr>
          <p:cNvPr id="17" name="Diagram label 12"/>
          <p:cNvSpPr txBox="1"/>
          <p:nvPr/>
        </p:nvSpPr>
        <p:spPr>
          <a:xfrm>
            <a:off x="7723114" y="189464"/>
            <a:ext cx="248534" cy="2725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651" dirty="0">
                <a:solidFill>
                  <a:schemeClr val="accent4"/>
                </a:solidFill>
              </a:rPr>
              <a:t>R</a:t>
            </a:r>
            <a:endParaRPr lang="en-US" sz="1651" dirty="0"/>
          </a:p>
        </p:txBody>
      </p:sp>
      <p:sp>
        <p:nvSpPr>
          <p:cNvPr id="18" name="Diagram arrow 13"/>
          <p:cNvSpPr/>
          <p:nvPr/>
        </p:nvSpPr>
        <p:spPr>
          <a:xfrm>
            <a:off x="8590331" y="1569750"/>
            <a:ext cx="0" cy="685617"/>
          </a:xfrm>
          <a:prstGeom prst="line">
            <a:avLst/>
          </a:prstGeom>
          <a:noFill/>
          <a:ln w="28194">
            <a:solidFill>
              <a:schemeClr val="accent1"/>
            </a:solidFill>
            <a:prstDash val="solid"/>
            <a:tailEnd type="triangle" w="lg" len="lg"/>
          </a:ln>
        </p:spPr>
      </p:sp>
      <p:sp>
        <p:nvSpPr>
          <p:cNvPr id="19" name="Diagram label 14"/>
          <p:cNvSpPr txBox="1"/>
          <p:nvPr/>
        </p:nvSpPr>
        <p:spPr>
          <a:xfrm>
            <a:off x="8670981" y="2022287"/>
            <a:ext cx="378562" cy="272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1" dirty="0">
                <a:solidFill>
                  <a:schemeClr val="accent1"/>
                </a:solidFill>
              </a:rPr>
              <a:t>6g</a:t>
            </a:r>
            <a:endParaRPr lang="en-US" sz="1651" dirty="0"/>
          </a:p>
        </p:txBody>
      </p:sp>
      <p:sp>
        <p:nvSpPr>
          <p:cNvPr id="20" name="Solution text"/>
          <p:cNvSpPr txBox="1"/>
          <p:nvPr/>
        </p:nvSpPr>
        <p:spPr>
          <a:xfrm>
            <a:off x="5842010" y="2675443"/>
            <a:ext cx="6265377" cy="2451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tan α = </a:t>
            </a:r>
            <a:r>
              <a:rPr lang="en-US" sz="1400" baseline="30000" dirty="0">
                <a:solidFill>
                  <a:schemeClr val="accent1"/>
                </a:solidFill>
              </a:rPr>
              <a:t>8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15</a:t>
            </a:r>
            <a:r>
              <a:rPr lang="en-US" sz="1400" dirty="0">
                <a:solidFill>
                  <a:schemeClr val="accent1"/>
                </a:solidFill>
              </a:rPr>
              <a:t>, so use an 8, 15, 17 triangle: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sin α = </a:t>
            </a:r>
            <a:r>
              <a:rPr lang="en-US" sz="1400" baseline="30000" dirty="0">
                <a:solidFill>
                  <a:schemeClr val="accent1"/>
                </a:solidFill>
              </a:rPr>
              <a:t>8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17</a:t>
            </a:r>
            <a:r>
              <a:rPr lang="en-US" sz="1400" dirty="0">
                <a:solidFill>
                  <a:schemeClr val="accent1"/>
                </a:solidFill>
              </a:rPr>
              <a:t> and cos α = </a:t>
            </a:r>
            <a:r>
              <a:rPr lang="en-US" sz="1400" baseline="30000" dirty="0">
                <a:solidFill>
                  <a:schemeClr val="accent1"/>
                </a:solidFill>
              </a:rPr>
              <a:t>15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17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Resolve perpendicular to the plane: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R = 6g cos α = 6 × 9.8 × </a:t>
            </a:r>
            <a:r>
              <a:rPr lang="en-US" sz="1400" baseline="30000" dirty="0">
                <a:solidFill>
                  <a:schemeClr val="accent1"/>
                </a:solidFill>
              </a:rPr>
              <a:t>15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17</a:t>
            </a:r>
            <a:r>
              <a:rPr lang="en-US" sz="1400" dirty="0">
                <a:solidFill>
                  <a:schemeClr val="accent1"/>
                </a:solidFill>
              </a:rPr>
              <a:t> = 51.88… N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a)</a:t>
            </a:r>
            <a:r>
              <a:rPr lang="en-US" sz="1400" dirty="0">
                <a:solidFill>
                  <a:schemeClr val="accent1"/>
                </a:solidFill>
              </a:rPr>
              <a:t> The box is moving, so friction is limiting.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F = μR = 0.4 × 51.88… = 20.8 N (3 s.f.)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b)</a:t>
            </a:r>
            <a:r>
              <a:rPr lang="en-US" sz="1400" dirty="0">
                <a:solidFill>
                  <a:schemeClr val="accent1"/>
                </a:solidFill>
              </a:rPr>
              <a:t> Work done against friction = F × d = 20.75… × 20 = 415 J (3 s.f.)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c)</a:t>
            </a:r>
            <a:r>
              <a:rPr lang="en-US" sz="1400" dirty="0">
                <a:solidFill>
                  <a:schemeClr val="accent1"/>
                </a:solidFill>
              </a:rPr>
              <a:t> Vertical height: h = 20 sin α = 20 × </a:t>
            </a:r>
            <a:r>
              <a:rPr lang="en-US" sz="1400" baseline="30000" dirty="0">
                <a:solidFill>
                  <a:schemeClr val="accent1"/>
                </a:solidFill>
              </a:rPr>
              <a:t>8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17</a:t>
            </a:r>
            <a:r>
              <a:rPr lang="en-US" sz="1400" dirty="0">
                <a:solidFill>
                  <a:schemeClr val="accent1"/>
                </a:solidFill>
              </a:rPr>
              <a:t> = 9.411… m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Work done against gravity = mgh = 6 × 9.8 × 9.411… = 553 J (3 s.f.)</a:t>
            </a:r>
            <a:endParaRPr lang="en-US" sz="1400" dirty="0"/>
          </a:p>
        </p:txBody>
      </p:sp>
      <p:sp>
        <p:nvSpPr>
          <p:cNvPr id="21" name="Solution triangle shape 1"/>
          <p:cNvSpPr/>
          <p:nvPr/>
        </p:nvSpPr>
        <p:spPr>
          <a:xfrm>
            <a:off x="10480030" y="2780142"/>
            <a:ext cx="1243858" cy="663397"/>
          </a:xfrm>
          <a:custGeom>
            <a:avLst/>
            <a:gdLst/>
            <a:ahLst/>
            <a:cxnLst/>
            <a:rect l="l" t="t" r="r" b="b"/>
            <a:pathLst>
              <a:path w="1243858" h="663397">
                <a:moveTo>
                  <a:pt x="0" y="663397"/>
                </a:moveTo>
                <a:lnTo>
                  <a:pt x="1243858" y="663397"/>
                </a:lnTo>
                <a:lnTo>
                  <a:pt x="1243858" y="0"/>
                </a:lnTo>
                <a:close/>
              </a:path>
            </a:pathLst>
          </a:custGeom>
          <a:solidFill>
            <a:srgbClr val="ECE4F5"/>
          </a:solidFill>
          <a:ln w="25908">
            <a:solidFill>
              <a:schemeClr val="accent1"/>
            </a:solidFill>
            <a:prstDash val="solid"/>
          </a:ln>
        </p:spPr>
      </p:sp>
      <p:sp>
        <p:nvSpPr>
          <p:cNvPr id="22" name="Solution triangle shape 2"/>
          <p:cNvSpPr/>
          <p:nvPr/>
        </p:nvSpPr>
        <p:spPr>
          <a:xfrm>
            <a:off x="11609771" y="3329422"/>
            <a:ext cx="114026" cy="114026"/>
          </a:xfrm>
          <a:custGeom>
            <a:avLst/>
            <a:gdLst/>
            <a:ahLst/>
            <a:cxnLst/>
            <a:rect l="l" t="t" r="r" b="b"/>
            <a:pathLst>
              <a:path w="114026" h="114026">
                <a:moveTo>
                  <a:pt x="0" y="114026"/>
                </a:moveTo>
                <a:lnTo>
                  <a:pt x="0" y="0"/>
                </a:lnTo>
                <a:lnTo>
                  <a:pt x="114026" y="0"/>
                </a:lnTo>
              </a:path>
            </a:pathLst>
          </a:custGeom>
          <a:noFill/>
          <a:ln w="15494">
            <a:solidFill>
              <a:schemeClr val="accent1"/>
            </a:solidFill>
            <a:prstDash val="solid"/>
          </a:ln>
        </p:spPr>
      </p:sp>
      <p:sp>
        <p:nvSpPr>
          <p:cNvPr id="23" name="Solution triangle label 3"/>
          <p:cNvSpPr txBox="1"/>
          <p:nvPr/>
        </p:nvSpPr>
        <p:spPr>
          <a:xfrm>
            <a:off x="10914096" y="3453872"/>
            <a:ext cx="375544" cy="2694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32" dirty="0">
                <a:solidFill>
                  <a:schemeClr val="accent1"/>
                </a:solidFill>
              </a:rPr>
              <a:t>15</a:t>
            </a:r>
            <a:endParaRPr lang="en-US" sz="1632" dirty="0"/>
          </a:p>
        </p:txBody>
      </p:sp>
      <p:sp>
        <p:nvSpPr>
          <p:cNvPr id="24" name="Solution triangle label 4"/>
          <p:cNvSpPr txBox="1"/>
          <p:nvPr/>
        </p:nvSpPr>
        <p:spPr>
          <a:xfrm>
            <a:off x="11806733" y="2977012"/>
            <a:ext cx="247071" cy="269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32" dirty="0">
                <a:solidFill>
                  <a:schemeClr val="accent1"/>
                </a:solidFill>
              </a:rPr>
              <a:t>8</a:t>
            </a:r>
            <a:endParaRPr lang="en-US" sz="1632" dirty="0"/>
          </a:p>
        </p:txBody>
      </p:sp>
      <p:sp>
        <p:nvSpPr>
          <p:cNvPr id="25" name="Solution triangle label 5"/>
          <p:cNvSpPr txBox="1"/>
          <p:nvPr/>
        </p:nvSpPr>
        <p:spPr>
          <a:xfrm rot="19915651">
            <a:off x="10831159" y="2831897"/>
            <a:ext cx="375544" cy="269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2" dirty="0">
                <a:solidFill>
                  <a:schemeClr val="accent1"/>
                </a:solidFill>
              </a:rPr>
              <a:t>17</a:t>
            </a:r>
            <a:endParaRPr lang="en-US" sz="1632" dirty="0"/>
          </a:p>
        </p:txBody>
      </p:sp>
      <p:sp>
        <p:nvSpPr>
          <p:cNvPr id="26" name="Solution triangle label 6"/>
          <p:cNvSpPr txBox="1"/>
          <p:nvPr/>
        </p:nvSpPr>
        <p:spPr>
          <a:xfrm>
            <a:off x="11002427" y="3217499"/>
            <a:ext cx="221376" cy="215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6" dirty="0">
                <a:solidFill>
                  <a:schemeClr val="accent1"/>
                </a:solidFill>
              </a:rPr>
              <a:t>α</a:t>
            </a:r>
            <a:endParaRPr lang="en-US" sz="1306" dirty="0"/>
          </a:p>
        </p:txBody>
      </p:sp>
      <p:sp>
        <p:nvSpPr>
          <p:cNvPr id="27" name="Previous slide">
            <a:hlinkClick r:id="" action="ppaction://hlinkshowjump?jump=previousslide"/>
          </p:cNvPr>
          <p:cNvSpPr txBox="1"/>
          <p:nvPr/>
        </p:nvSpPr>
        <p:spPr>
          <a:xfrm>
            <a:off x="2031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Previous</a:t>
            </a:r>
            <a:endParaRPr lang="en-US" sz="1600" dirty="0"/>
          </a:p>
        </p:txBody>
      </p:sp>
      <p:sp>
        <p:nvSpPr>
          <p:cNvPr id="28" name="Next slide">
            <a:hlinkClick r:id="" action="ppaction://hlinkshowjump?jump=nextslide"/>
          </p:cNvPr>
          <p:cNvSpPr txBox="1"/>
          <p:nvPr/>
        </p:nvSpPr>
        <p:spPr>
          <a:xfrm>
            <a:off x="107187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Next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1" grpId="0" animBg="1"/>
      <p:bldP spid="21" grpId="1" animBg="1"/>
      <p:bldP spid="22" grpId="0" animBg="1"/>
      <p:bldP spid="22" grpId="1" animBg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237104" y="203180"/>
            <a:ext cx="5418643" cy="279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2. A rough surface is inclined at an angle arctan </a:t>
            </a:r>
            <a:r>
              <a:rPr lang="en-US" sz="1667" baseline="30000" dirty="0">
                <a:solidFill>
                  <a:schemeClr val="tx2"/>
                </a:solidFill>
              </a:rPr>
              <a:t>3</a:t>
            </a:r>
            <a:r>
              <a:rPr lang="en-US" sz="1667" dirty="0">
                <a:solidFill>
                  <a:schemeClr val="tx2"/>
                </a:solidFill>
              </a:rPr>
              <a:t>⁄</a:t>
            </a:r>
            <a:r>
              <a:rPr lang="en-US" sz="1667" baseline="-8000" dirty="0">
                <a:solidFill>
                  <a:schemeClr val="tx2"/>
                </a:solidFill>
              </a:rPr>
              <a:t>4</a:t>
            </a:r>
            <a:r>
              <a:rPr lang="en-US" sz="1667" dirty="0">
                <a:solidFill>
                  <a:schemeClr val="tx2"/>
                </a:solidFill>
              </a:rPr>
              <a:t> to the horizontal.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A parcel of mass 1.5 kg is pulled 4 m at a constant speed up the surface by a force acting along a line of greatest slope.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The only resistances to the motion are those due to friction and gravity.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The work done by the force is 50 J.</a:t>
            </a:r>
            <a:endParaRPr lang="en-US" sz="1667" dirty="0"/>
          </a:p>
        </p:txBody>
      </p:sp>
      <p:sp>
        <p:nvSpPr>
          <p:cNvPr id="3" name="Find"/>
          <p:cNvSpPr/>
          <p:nvPr/>
        </p:nvSpPr>
        <p:spPr>
          <a:xfrm>
            <a:off x="237104" y="2962930"/>
            <a:ext cx="5418643" cy="795894"/>
          </a:xfrm>
          <a:prstGeom prst="roundRect">
            <a:avLst>
              <a:gd name="adj" fmla="val 8513"/>
            </a:avLst>
          </a:prstGeom>
          <a:solidFill>
            <a:schemeClr val="bg2"/>
          </a:solidFill>
          <a:ln/>
        </p:spPr>
        <p:txBody>
          <a:bodyPr wrap="square" lIns="135509" tIns="118491" rIns="135509" bIns="118491" rtlCol="0" anchor="t"/>
          <a:lstStyle/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Calculate the coefficient of friction between the parcel and the surface.</a:t>
            </a:r>
            <a:endParaRPr lang="en-US" sz="1667" dirty="0"/>
          </a:p>
        </p:txBody>
      </p:sp>
      <p:sp>
        <p:nvSpPr>
          <p:cNvPr id="4" name="Show button"/>
          <p:cNvSpPr/>
          <p:nvPr/>
        </p:nvSpPr>
        <p:spPr>
          <a:xfrm>
            <a:off x="237104" y="3894247"/>
            <a:ext cx="846643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Show</a:t>
            </a:r>
            <a:endParaRPr lang="en-US" sz="1600" dirty="0"/>
          </a:p>
        </p:txBody>
      </p:sp>
      <p:sp>
        <p:nvSpPr>
          <p:cNvPr id="5" name="Hide button"/>
          <p:cNvSpPr/>
          <p:nvPr/>
        </p:nvSpPr>
        <p:spPr>
          <a:xfrm>
            <a:off x="1202253" y="3894247"/>
            <a:ext cx="778977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Hide</a:t>
            </a:r>
            <a:endParaRPr lang="en-US" sz="1600" dirty="0"/>
          </a:p>
        </p:txBody>
      </p:sp>
      <p:sp>
        <p:nvSpPr>
          <p:cNvPr id="6" name="Diagram Ramp 1"/>
          <p:cNvSpPr/>
          <p:nvPr/>
        </p:nvSpPr>
        <p:spPr>
          <a:xfrm>
            <a:off x="7408835" y="188732"/>
            <a:ext cx="3131637" cy="2348728"/>
          </a:xfrm>
          <a:custGeom>
            <a:avLst/>
            <a:gdLst/>
            <a:ahLst/>
            <a:cxnLst/>
            <a:rect l="l" t="t" r="r" b="b"/>
            <a:pathLst>
              <a:path w="3131637" h="2348728">
                <a:moveTo>
                  <a:pt x="0" y="2348728"/>
                </a:moveTo>
                <a:lnTo>
                  <a:pt x="3131637" y="2348728"/>
                </a:lnTo>
                <a:lnTo>
                  <a:pt x="3131637" y="0"/>
                </a:lnTo>
                <a:close/>
              </a:path>
            </a:pathLst>
          </a:custGeom>
          <a:solidFill>
            <a:srgbClr val="C2D9E5"/>
          </a:solidFill>
          <a:ln w="19939">
            <a:solidFill>
              <a:schemeClr val="tx1"/>
            </a:solidFill>
            <a:prstDash val="solid"/>
          </a:ln>
        </p:spPr>
      </p:sp>
      <p:sp>
        <p:nvSpPr>
          <p:cNvPr id="7" name="Diagram shape 2"/>
          <p:cNvSpPr/>
          <p:nvPr/>
        </p:nvSpPr>
        <p:spPr>
          <a:xfrm>
            <a:off x="10407244" y="2404232"/>
            <a:ext cx="133228" cy="133228"/>
          </a:xfrm>
          <a:custGeom>
            <a:avLst/>
            <a:gdLst/>
            <a:ahLst/>
            <a:cxnLst/>
            <a:rect l="l" t="t" r="r" b="b"/>
            <a:pathLst>
              <a:path w="133228" h="133228">
                <a:moveTo>
                  <a:pt x="0" y="133228"/>
                </a:moveTo>
                <a:lnTo>
                  <a:pt x="0" y="0"/>
                </a:lnTo>
                <a:lnTo>
                  <a:pt x="133228" y="0"/>
                </a:lnTo>
              </a:path>
            </a:pathLst>
          </a:custGeom>
          <a:noFill/>
          <a:ln w="13335">
            <a:solidFill>
              <a:schemeClr val="tx1"/>
            </a:solidFill>
            <a:prstDash val="solid"/>
          </a:ln>
        </p:spPr>
      </p:sp>
      <p:sp>
        <p:nvSpPr>
          <p:cNvPr id="8" name="Diagram shape 3"/>
          <p:cNvSpPr/>
          <p:nvPr/>
        </p:nvSpPr>
        <p:spPr>
          <a:xfrm>
            <a:off x="7782001" y="2257654"/>
            <a:ext cx="93269" cy="279806"/>
          </a:xfrm>
          <a:custGeom>
            <a:avLst/>
            <a:gdLst/>
            <a:ahLst/>
            <a:cxnLst/>
            <a:rect l="l" t="t" r="r" b="b"/>
            <a:pathLst>
              <a:path w="93269" h="279806">
                <a:moveTo>
                  <a:pt x="93269" y="279806"/>
                </a:moveTo>
                <a:lnTo>
                  <a:pt x="92903" y="261061"/>
                </a:lnTo>
                <a:lnTo>
                  <a:pt x="91806" y="242407"/>
                </a:lnTo>
                <a:lnTo>
                  <a:pt x="89886" y="223754"/>
                </a:lnTo>
                <a:lnTo>
                  <a:pt x="87234" y="205100"/>
                </a:lnTo>
                <a:lnTo>
                  <a:pt x="83850" y="186720"/>
                </a:lnTo>
                <a:lnTo>
                  <a:pt x="79736" y="168341"/>
                </a:lnTo>
                <a:lnTo>
                  <a:pt x="74889" y="150236"/>
                </a:lnTo>
                <a:lnTo>
                  <a:pt x="69312" y="132314"/>
                </a:lnTo>
                <a:lnTo>
                  <a:pt x="63094" y="114666"/>
                </a:lnTo>
                <a:lnTo>
                  <a:pt x="56053" y="97292"/>
                </a:lnTo>
                <a:lnTo>
                  <a:pt x="48372" y="80193"/>
                </a:lnTo>
                <a:lnTo>
                  <a:pt x="40051" y="63368"/>
                </a:lnTo>
                <a:lnTo>
                  <a:pt x="30998" y="46909"/>
                </a:lnTo>
                <a:lnTo>
                  <a:pt x="21306" y="30907"/>
                </a:lnTo>
                <a:lnTo>
                  <a:pt x="10973" y="15270"/>
                </a:lnTo>
                <a:lnTo>
                  <a:pt x="0" y="0"/>
                </a:lnTo>
              </a:path>
            </a:pathLst>
          </a:custGeom>
          <a:noFill/>
          <a:ln w="13335">
            <a:solidFill>
              <a:schemeClr val="tx1"/>
            </a:solidFill>
            <a:prstDash val="solid"/>
          </a:ln>
        </p:spPr>
      </p:sp>
      <p:sp>
        <p:nvSpPr>
          <p:cNvPr id="9" name="Diagram label 4"/>
          <p:cNvSpPr txBox="1"/>
          <p:nvPr/>
        </p:nvSpPr>
        <p:spPr>
          <a:xfrm>
            <a:off x="7914498" y="2256282"/>
            <a:ext cx="225948" cy="225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64" dirty="0">
                <a:solidFill>
                  <a:schemeClr val="tx1"/>
                </a:solidFill>
              </a:rPr>
              <a:t>α</a:t>
            </a:r>
            <a:endParaRPr lang="en-US" sz="1364" dirty="0"/>
          </a:p>
        </p:txBody>
      </p:sp>
      <p:sp>
        <p:nvSpPr>
          <p:cNvPr id="10" name="Diagram Particle 5"/>
          <p:cNvSpPr/>
          <p:nvPr/>
        </p:nvSpPr>
        <p:spPr>
          <a:xfrm>
            <a:off x="8195127" y="1084936"/>
            <a:ext cx="652973" cy="652973"/>
          </a:xfrm>
          <a:custGeom>
            <a:avLst/>
            <a:gdLst/>
            <a:ahLst/>
            <a:cxnLst/>
            <a:rect l="l" t="t" r="r" b="b"/>
            <a:pathLst>
              <a:path w="652973" h="652973">
                <a:moveTo>
                  <a:pt x="279806" y="652973"/>
                </a:moveTo>
                <a:lnTo>
                  <a:pt x="652973" y="373167"/>
                </a:lnTo>
                <a:lnTo>
                  <a:pt x="373167" y="0"/>
                </a:lnTo>
                <a:lnTo>
                  <a:pt x="0" y="279806"/>
                </a:lnTo>
                <a:close/>
              </a:path>
            </a:pathLst>
          </a:custGeom>
          <a:solidFill>
            <a:schemeClr val="bg1"/>
          </a:solidFill>
          <a:ln w="19939">
            <a:solidFill>
              <a:schemeClr val="accent1"/>
            </a:solidFill>
            <a:prstDash val="solid"/>
          </a:ln>
        </p:spPr>
      </p:sp>
      <p:sp>
        <p:nvSpPr>
          <p:cNvPr id="11" name="Diagram label 6"/>
          <p:cNvSpPr txBox="1"/>
          <p:nvPr/>
        </p:nvSpPr>
        <p:spPr>
          <a:xfrm rot="19387806">
            <a:off x="8226857" y="1329172"/>
            <a:ext cx="5895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7" dirty="0">
                <a:solidFill>
                  <a:schemeClr val="accent1"/>
                </a:solidFill>
              </a:rPr>
              <a:t>1.5 kg</a:t>
            </a:r>
            <a:endParaRPr lang="en-US" sz="997" dirty="0"/>
          </a:p>
        </p:txBody>
      </p:sp>
      <p:sp>
        <p:nvSpPr>
          <p:cNvPr id="12" name="Diagram arrow 7"/>
          <p:cNvSpPr/>
          <p:nvPr/>
        </p:nvSpPr>
        <p:spPr>
          <a:xfrm flipV="1">
            <a:off x="8708106" y="871698"/>
            <a:ext cx="533004" cy="399776"/>
          </a:xfrm>
          <a:prstGeom prst="line">
            <a:avLst/>
          </a:prstGeom>
          <a:noFill/>
          <a:ln w="23368">
            <a:solidFill>
              <a:schemeClr val="accent2"/>
            </a:solidFill>
            <a:prstDash val="solid"/>
            <a:tailEnd type="triangle" w="lg" len="lg"/>
          </a:ln>
        </p:spPr>
      </p:sp>
      <p:sp>
        <p:nvSpPr>
          <p:cNvPr id="13" name="Diagram label 8"/>
          <p:cNvSpPr txBox="1"/>
          <p:nvPr/>
        </p:nvSpPr>
        <p:spPr>
          <a:xfrm>
            <a:off x="9315816" y="633862"/>
            <a:ext cx="225948" cy="2252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64" dirty="0">
                <a:solidFill>
                  <a:schemeClr val="accent2"/>
                </a:solidFill>
              </a:rPr>
              <a:t>T</a:t>
            </a:r>
            <a:endParaRPr lang="en-US" sz="1364" dirty="0"/>
          </a:p>
        </p:txBody>
      </p:sp>
      <p:sp>
        <p:nvSpPr>
          <p:cNvPr id="14" name="Diagram arrow 9"/>
          <p:cNvSpPr/>
          <p:nvPr/>
        </p:nvSpPr>
        <p:spPr>
          <a:xfrm flipH="1">
            <a:off x="7881945" y="1551371"/>
            <a:ext cx="453085" cy="339791"/>
          </a:xfrm>
          <a:prstGeom prst="line">
            <a:avLst/>
          </a:prstGeom>
          <a:noFill/>
          <a:ln w="23368">
            <a:solidFill>
              <a:schemeClr val="accent3"/>
            </a:solidFill>
            <a:prstDash val="solid"/>
            <a:tailEnd type="triangle" w="lg" len="lg"/>
          </a:ln>
        </p:spPr>
      </p:sp>
      <p:sp>
        <p:nvSpPr>
          <p:cNvPr id="15" name="Diagram label 10"/>
          <p:cNvSpPr txBox="1"/>
          <p:nvPr/>
        </p:nvSpPr>
        <p:spPr>
          <a:xfrm>
            <a:off x="7581382" y="1926366"/>
            <a:ext cx="225948" cy="225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64" dirty="0">
                <a:solidFill>
                  <a:schemeClr val="accent3"/>
                </a:solidFill>
              </a:rPr>
              <a:t>F</a:t>
            </a:r>
            <a:endParaRPr lang="en-US" sz="1364" dirty="0"/>
          </a:p>
        </p:txBody>
      </p:sp>
      <p:sp>
        <p:nvSpPr>
          <p:cNvPr id="16" name="Diagram arrow 11"/>
          <p:cNvSpPr/>
          <p:nvPr/>
        </p:nvSpPr>
        <p:spPr>
          <a:xfrm flipH="1" flipV="1">
            <a:off x="8041874" y="771754"/>
            <a:ext cx="339791" cy="453085"/>
          </a:xfrm>
          <a:prstGeom prst="line">
            <a:avLst/>
          </a:prstGeom>
          <a:noFill/>
          <a:ln w="23368">
            <a:solidFill>
              <a:schemeClr val="accent4"/>
            </a:solidFill>
            <a:prstDash val="solid"/>
            <a:tailEnd type="triangle" w="lg" len="lg"/>
          </a:ln>
        </p:spPr>
      </p:sp>
      <p:sp>
        <p:nvSpPr>
          <p:cNvPr id="17" name="Diagram label 12"/>
          <p:cNvSpPr txBox="1"/>
          <p:nvPr/>
        </p:nvSpPr>
        <p:spPr>
          <a:xfrm>
            <a:off x="7759964" y="515264"/>
            <a:ext cx="225948" cy="22521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64" dirty="0">
                <a:solidFill>
                  <a:schemeClr val="accent4"/>
                </a:solidFill>
              </a:rPr>
              <a:t>R</a:t>
            </a:r>
            <a:endParaRPr lang="en-US" sz="1364" dirty="0"/>
          </a:p>
        </p:txBody>
      </p:sp>
      <p:sp>
        <p:nvSpPr>
          <p:cNvPr id="18" name="Diagram arrow 13"/>
          <p:cNvSpPr/>
          <p:nvPr/>
        </p:nvSpPr>
        <p:spPr>
          <a:xfrm>
            <a:off x="8661471" y="1598005"/>
            <a:ext cx="0" cy="632948"/>
          </a:xfrm>
          <a:prstGeom prst="line">
            <a:avLst/>
          </a:prstGeom>
          <a:noFill/>
          <a:ln w="23368">
            <a:solidFill>
              <a:schemeClr val="accent1"/>
            </a:solidFill>
            <a:prstDash val="solid"/>
            <a:tailEnd type="triangle" w="lg" len="lg"/>
          </a:ln>
        </p:spPr>
      </p:sp>
      <p:sp>
        <p:nvSpPr>
          <p:cNvPr id="19" name="Diagram label 14"/>
          <p:cNvSpPr txBox="1"/>
          <p:nvPr/>
        </p:nvSpPr>
        <p:spPr>
          <a:xfrm>
            <a:off x="8728131" y="2038472"/>
            <a:ext cx="548183" cy="225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64" dirty="0">
                <a:solidFill>
                  <a:schemeClr val="accent1"/>
                </a:solidFill>
              </a:rPr>
              <a:t>1.5g</a:t>
            </a:r>
            <a:endParaRPr lang="en-US" sz="1364" dirty="0"/>
          </a:p>
        </p:txBody>
      </p:sp>
      <p:sp>
        <p:nvSpPr>
          <p:cNvPr id="20" name="Solution text"/>
          <p:cNvSpPr txBox="1"/>
          <p:nvPr/>
        </p:nvSpPr>
        <p:spPr>
          <a:xfrm>
            <a:off x="5842010" y="2675443"/>
            <a:ext cx="6265377" cy="2717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tan α = </a:t>
            </a:r>
            <a:r>
              <a:rPr lang="en-US" sz="1400" baseline="30000" dirty="0">
                <a:solidFill>
                  <a:schemeClr val="accent1"/>
                </a:solidFill>
              </a:rPr>
              <a:t>3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4</a:t>
            </a:r>
            <a:r>
              <a:rPr lang="en-US" sz="1400" dirty="0">
                <a:solidFill>
                  <a:schemeClr val="accent1"/>
                </a:solidFill>
              </a:rPr>
              <a:t>, so use a 3, 4, 5 triangle: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sin α = </a:t>
            </a:r>
            <a:r>
              <a:rPr lang="en-US" sz="1400" baseline="30000" dirty="0">
                <a:solidFill>
                  <a:schemeClr val="accent1"/>
                </a:solidFill>
              </a:rPr>
              <a:t>3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5</a:t>
            </a:r>
            <a:r>
              <a:rPr lang="en-US" sz="1400" dirty="0">
                <a:solidFill>
                  <a:schemeClr val="accent1"/>
                </a:solidFill>
              </a:rPr>
              <a:t> and cos α = </a:t>
            </a:r>
            <a:r>
              <a:rPr lang="en-US" sz="1400" baseline="30000" dirty="0">
                <a:solidFill>
                  <a:schemeClr val="accent1"/>
                </a:solidFill>
              </a:rPr>
              <a:t>4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5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Height gained: h = 4 sin α = 4 × </a:t>
            </a:r>
            <a:r>
              <a:rPr lang="en-US" sz="1400" baseline="30000" dirty="0">
                <a:solidFill>
                  <a:schemeClr val="accent1"/>
                </a:solidFill>
              </a:rPr>
              <a:t>3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5</a:t>
            </a:r>
            <a:r>
              <a:rPr lang="en-US" sz="1400" dirty="0">
                <a:solidFill>
                  <a:schemeClr val="accent1"/>
                </a:solidFill>
              </a:rPr>
              <a:t> = 2.4 m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Work done against gravity = mgh = 1.5 × 9.8 × 2.4 = 35.28 J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The work done by the force is used against gravity and friction: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50 = 35.28 + work done against friction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Work done against friction = 14.72 J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Resolve perpendicular: R = 1.5g cos α = 1.5 × 9.8 × </a:t>
            </a:r>
            <a:r>
              <a:rPr lang="en-US" sz="1400" baseline="30000" dirty="0">
                <a:solidFill>
                  <a:schemeClr val="accent1"/>
                </a:solidFill>
              </a:rPr>
              <a:t>4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5</a:t>
            </a:r>
            <a:r>
              <a:rPr lang="en-US" sz="1400" dirty="0">
                <a:solidFill>
                  <a:schemeClr val="accent1"/>
                </a:solidFill>
              </a:rPr>
              <a:t> = 11.76 N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Work done against friction = μR × d, so 14.72 = μ × 11.76 × 4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μ = </a:t>
            </a:r>
            <a:r>
              <a:rPr lang="en-US" sz="1400" baseline="30000" dirty="0">
                <a:solidFill>
                  <a:schemeClr val="accent1"/>
                </a:solidFill>
              </a:rPr>
              <a:t>14.72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47.04</a:t>
            </a:r>
            <a:r>
              <a:rPr lang="en-US" sz="1400" dirty="0">
                <a:solidFill>
                  <a:schemeClr val="accent1"/>
                </a:solidFill>
              </a:rPr>
              <a:t> = 0.313 (3 s.f.)</a:t>
            </a:r>
            <a:endParaRPr lang="en-US" sz="1400" dirty="0"/>
          </a:p>
        </p:txBody>
      </p:sp>
      <p:sp>
        <p:nvSpPr>
          <p:cNvPr id="21" name="Solution triangle shape 1"/>
          <p:cNvSpPr/>
          <p:nvPr/>
        </p:nvSpPr>
        <p:spPr>
          <a:xfrm>
            <a:off x="10614355" y="2750058"/>
            <a:ext cx="994959" cy="746242"/>
          </a:xfrm>
          <a:custGeom>
            <a:avLst/>
            <a:gdLst/>
            <a:ahLst/>
            <a:cxnLst/>
            <a:rect l="l" t="t" r="r" b="b"/>
            <a:pathLst>
              <a:path w="994959" h="746242">
                <a:moveTo>
                  <a:pt x="0" y="746242"/>
                </a:moveTo>
                <a:lnTo>
                  <a:pt x="994959" y="746242"/>
                </a:lnTo>
                <a:lnTo>
                  <a:pt x="994959" y="0"/>
                </a:lnTo>
                <a:close/>
              </a:path>
            </a:pathLst>
          </a:custGeom>
          <a:solidFill>
            <a:srgbClr val="ECE4F5"/>
          </a:solidFill>
          <a:ln w="23368">
            <a:solidFill>
              <a:schemeClr val="accent1"/>
            </a:solidFill>
            <a:prstDash val="solid"/>
          </a:ln>
        </p:spPr>
      </p:sp>
      <p:sp>
        <p:nvSpPr>
          <p:cNvPr id="22" name="Solution triangle shape 2"/>
          <p:cNvSpPr/>
          <p:nvPr/>
        </p:nvSpPr>
        <p:spPr>
          <a:xfrm>
            <a:off x="11506718" y="3393704"/>
            <a:ext cx="102596" cy="102596"/>
          </a:xfrm>
          <a:custGeom>
            <a:avLst/>
            <a:gdLst/>
            <a:ahLst/>
            <a:cxnLst/>
            <a:rect l="l" t="t" r="r" b="b"/>
            <a:pathLst>
              <a:path w="102596" h="102596">
                <a:moveTo>
                  <a:pt x="0" y="102596"/>
                </a:moveTo>
                <a:lnTo>
                  <a:pt x="0" y="0"/>
                </a:lnTo>
                <a:lnTo>
                  <a:pt x="102596" y="0"/>
                </a:lnTo>
              </a:path>
            </a:pathLst>
          </a:custGeom>
          <a:noFill/>
          <a:ln w="13970">
            <a:solidFill>
              <a:schemeClr val="accent1"/>
            </a:solidFill>
            <a:prstDash val="solid"/>
          </a:ln>
        </p:spPr>
      </p:sp>
      <p:sp>
        <p:nvSpPr>
          <p:cNvPr id="23" name="Solution triangle label 3"/>
          <p:cNvSpPr txBox="1"/>
          <p:nvPr/>
        </p:nvSpPr>
        <p:spPr>
          <a:xfrm>
            <a:off x="10994746" y="3505627"/>
            <a:ext cx="234178" cy="2424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69" dirty="0">
                <a:solidFill>
                  <a:schemeClr val="accent1"/>
                </a:solidFill>
              </a:rPr>
              <a:t>4</a:t>
            </a:r>
            <a:endParaRPr lang="en-US" sz="1469" dirty="0"/>
          </a:p>
        </p:txBody>
      </p:sp>
      <p:sp>
        <p:nvSpPr>
          <p:cNvPr id="24" name="Solution triangle label 4"/>
          <p:cNvSpPr txBox="1"/>
          <p:nvPr/>
        </p:nvSpPr>
        <p:spPr>
          <a:xfrm>
            <a:off x="11683929" y="3001975"/>
            <a:ext cx="234178" cy="242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69" dirty="0">
                <a:solidFill>
                  <a:schemeClr val="accent1"/>
                </a:solidFill>
              </a:rPr>
              <a:t>3</a:t>
            </a:r>
            <a:endParaRPr lang="en-US" sz="1469" dirty="0"/>
          </a:p>
        </p:txBody>
      </p:sp>
      <p:sp>
        <p:nvSpPr>
          <p:cNvPr id="25" name="Solution triangle label 5"/>
          <p:cNvSpPr txBox="1"/>
          <p:nvPr/>
        </p:nvSpPr>
        <p:spPr>
          <a:xfrm rot="19387806">
            <a:off x="10920131" y="2871307"/>
            <a:ext cx="234178" cy="242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9" dirty="0">
                <a:solidFill>
                  <a:schemeClr val="accent1"/>
                </a:solidFill>
              </a:rPr>
              <a:t>5</a:t>
            </a:r>
            <a:endParaRPr lang="en-US" sz="1469" dirty="0"/>
          </a:p>
        </p:txBody>
      </p:sp>
      <p:sp>
        <p:nvSpPr>
          <p:cNvPr id="26" name="Solution triangle label 6"/>
          <p:cNvSpPr txBox="1"/>
          <p:nvPr/>
        </p:nvSpPr>
        <p:spPr>
          <a:xfrm>
            <a:off x="11032236" y="3292937"/>
            <a:ext cx="211044" cy="194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75" dirty="0">
                <a:solidFill>
                  <a:schemeClr val="accent1"/>
                </a:solidFill>
              </a:rPr>
              <a:t>α</a:t>
            </a:r>
            <a:endParaRPr lang="en-US" sz="1175" dirty="0"/>
          </a:p>
        </p:txBody>
      </p:sp>
      <p:sp>
        <p:nvSpPr>
          <p:cNvPr id="27" name="Previous slide">
            <a:hlinkClick r:id="" action="ppaction://hlinkshowjump?jump=previousslide"/>
          </p:cNvPr>
          <p:cNvSpPr txBox="1"/>
          <p:nvPr/>
        </p:nvSpPr>
        <p:spPr>
          <a:xfrm>
            <a:off x="2031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Previous</a:t>
            </a:r>
            <a:endParaRPr lang="en-US" sz="1600" dirty="0"/>
          </a:p>
        </p:txBody>
      </p:sp>
      <p:sp>
        <p:nvSpPr>
          <p:cNvPr id="28" name="Next slide">
            <a:hlinkClick r:id="" action="ppaction://hlinkshowjump?jump=nextslide"/>
          </p:cNvPr>
          <p:cNvSpPr txBox="1"/>
          <p:nvPr/>
        </p:nvSpPr>
        <p:spPr>
          <a:xfrm>
            <a:off x="107187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Next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1" grpId="0" animBg="1"/>
      <p:bldP spid="21" grpId="1" animBg="1"/>
      <p:bldP spid="22" grpId="0" animBg="1"/>
      <p:bldP spid="22" grpId="1" animBg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237104" y="203180"/>
            <a:ext cx="5418643" cy="279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3. A rough surface is inclined at 25° to the horizontal.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A sledge of mass 4 kg is pulled at a constant speed up the surface by a force P acting along a line of greatest slope.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The coefficient of friction between the sledge and the surface is 0.15.</a:t>
            </a:r>
            <a:endParaRPr lang="en-US" sz="1667" dirty="0"/>
          </a:p>
        </p:txBody>
      </p:sp>
      <p:sp>
        <p:nvSpPr>
          <p:cNvPr id="3" name="Find"/>
          <p:cNvSpPr/>
          <p:nvPr/>
        </p:nvSpPr>
        <p:spPr>
          <a:xfrm>
            <a:off x="237104" y="2285726"/>
            <a:ext cx="5418643" cy="795894"/>
          </a:xfrm>
          <a:prstGeom prst="roundRect">
            <a:avLst>
              <a:gd name="adj" fmla="val 8513"/>
            </a:avLst>
          </a:prstGeom>
          <a:solidFill>
            <a:schemeClr val="bg2"/>
          </a:solidFill>
          <a:ln/>
        </p:spPr>
        <p:txBody>
          <a:bodyPr wrap="square" lIns="135509" tIns="118491" rIns="135509" bIns="118491" rtlCol="0" anchor="t"/>
          <a:lstStyle/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Modelling the sledge as a particle, calculate the work done by P when the sledge travels 12 m.</a:t>
            </a:r>
            <a:endParaRPr lang="en-US" sz="1667" dirty="0"/>
          </a:p>
        </p:txBody>
      </p:sp>
      <p:sp>
        <p:nvSpPr>
          <p:cNvPr id="4" name="Show button"/>
          <p:cNvSpPr/>
          <p:nvPr/>
        </p:nvSpPr>
        <p:spPr>
          <a:xfrm>
            <a:off x="237104" y="3217042"/>
            <a:ext cx="846643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Show</a:t>
            </a:r>
            <a:endParaRPr lang="en-US" sz="1600" dirty="0"/>
          </a:p>
        </p:txBody>
      </p:sp>
      <p:sp>
        <p:nvSpPr>
          <p:cNvPr id="5" name="Hide button"/>
          <p:cNvSpPr/>
          <p:nvPr/>
        </p:nvSpPr>
        <p:spPr>
          <a:xfrm>
            <a:off x="1202253" y="3217042"/>
            <a:ext cx="778977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Hide</a:t>
            </a:r>
            <a:endParaRPr lang="en-US" sz="1600" dirty="0"/>
          </a:p>
        </p:txBody>
      </p:sp>
      <p:sp>
        <p:nvSpPr>
          <p:cNvPr id="6" name="Diagram Ramp 1"/>
          <p:cNvSpPr/>
          <p:nvPr/>
        </p:nvSpPr>
        <p:spPr>
          <a:xfrm>
            <a:off x="6653814" y="360091"/>
            <a:ext cx="4641677" cy="2164476"/>
          </a:xfrm>
          <a:custGeom>
            <a:avLst/>
            <a:gdLst/>
            <a:ahLst/>
            <a:cxnLst/>
            <a:rect l="l" t="t" r="r" b="b"/>
            <a:pathLst>
              <a:path w="4641677" h="2164476">
                <a:moveTo>
                  <a:pt x="0" y="2164476"/>
                </a:moveTo>
                <a:lnTo>
                  <a:pt x="4641677" y="2164476"/>
                </a:lnTo>
                <a:lnTo>
                  <a:pt x="4641677" y="0"/>
                </a:lnTo>
                <a:close/>
              </a:path>
            </a:pathLst>
          </a:custGeom>
          <a:solidFill>
            <a:srgbClr val="C2D9E5"/>
          </a:solidFill>
          <a:ln w="24892">
            <a:solidFill>
              <a:schemeClr val="tx1"/>
            </a:solidFill>
            <a:prstDash val="solid"/>
          </a:ln>
        </p:spPr>
      </p:sp>
      <p:sp>
        <p:nvSpPr>
          <p:cNvPr id="7" name="Diagram shape 2"/>
          <p:cNvSpPr/>
          <p:nvPr/>
        </p:nvSpPr>
        <p:spPr>
          <a:xfrm>
            <a:off x="11129711" y="2358695"/>
            <a:ext cx="165781" cy="165781"/>
          </a:xfrm>
          <a:custGeom>
            <a:avLst/>
            <a:gdLst/>
            <a:ahLst/>
            <a:cxnLst/>
            <a:rect l="l" t="t" r="r" b="b"/>
            <a:pathLst>
              <a:path w="165781" h="165781">
                <a:moveTo>
                  <a:pt x="0" y="165781"/>
                </a:moveTo>
                <a:lnTo>
                  <a:pt x="0" y="0"/>
                </a:lnTo>
                <a:lnTo>
                  <a:pt x="165781" y="0"/>
                </a:lnTo>
              </a:path>
            </a:pathLst>
          </a:custGeom>
          <a:noFill/>
          <a:ln w="16637">
            <a:solidFill>
              <a:schemeClr val="tx1"/>
            </a:solidFill>
            <a:prstDash val="solid"/>
          </a:ln>
        </p:spPr>
      </p:sp>
      <p:sp>
        <p:nvSpPr>
          <p:cNvPr id="8" name="Diagram shape 3"/>
          <p:cNvSpPr/>
          <p:nvPr/>
        </p:nvSpPr>
        <p:spPr>
          <a:xfrm>
            <a:off x="7179686" y="2279325"/>
            <a:ext cx="54315" cy="245242"/>
          </a:xfrm>
          <a:custGeom>
            <a:avLst/>
            <a:gdLst/>
            <a:ahLst/>
            <a:cxnLst/>
            <a:rect l="l" t="t" r="r" b="b"/>
            <a:pathLst>
              <a:path w="54315" h="245242">
                <a:moveTo>
                  <a:pt x="54315" y="245242"/>
                </a:moveTo>
                <a:lnTo>
                  <a:pt x="54132" y="229423"/>
                </a:lnTo>
                <a:lnTo>
                  <a:pt x="53492" y="213604"/>
                </a:lnTo>
                <a:lnTo>
                  <a:pt x="52395" y="197785"/>
                </a:lnTo>
                <a:lnTo>
                  <a:pt x="50932" y="182057"/>
                </a:lnTo>
                <a:lnTo>
                  <a:pt x="49012" y="166329"/>
                </a:lnTo>
                <a:lnTo>
                  <a:pt x="46634" y="150693"/>
                </a:lnTo>
                <a:lnTo>
                  <a:pt x="43800" y="135148"/>
                </a:lnTo>
                <a:lnTo>
                  <a:pt x="40599" y="119604"/>
                </a:lnTo>
                <a:lnTo>
                  <a:pt x="36942" y="104242"/>
                </a:lnTo>
                <a:lnTo>
                  <a:pt x="32918" y="88971"/>
                </a:lnTo>
                <a:lnTo>
                  <a:pt x="28438" y="73792"/>
                </a:lnTo>
                <a:lnTo>
                  <a:pt x="23592" y="58704"/>
                </a:lnTo>
                <a:lnTo>
                  <a:pt x="18288" y="43800"/>
                </a:lnTo>
                <a:lnTo>
                  <a:pt x="12619" y="28986"/>
                </a:lnTo>
                <a:lnTo>
                  <a:pt x="6492" y="14448"/>
                </a:lnTo>
                <a:lnTo>
                  <a:pt x="0" y="0"/>
                </a:lnTo>
              </a:path>
            </a:pathLst>
          </a:custGeom>
          <a:noFill/>
          <a:ln w="16637">
            <a:solidFill>
              <a:schemeClr val="tx1"/>
            </a:solidFill>
            <a:prstDash val="solid"/>
          </a:ln>
        </p:spPr>
      </p:sp>
      <p:sp>
        <p:nvSpPr>
          <p:cNvPr id="9" name="Diagram label 4"/>
          <p:cNvSpPr txBox="1"/>
          <p:nvPr/>
        </p:nvSpPr>
        <p:spPr>
          <a:xfrm>
            <a:off x="7301210" y="2240920"/>
            <a:ext cx="519379" cy="280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97" dirty="0">
                <a:solidFill>
                  <a:schemeClr val="tx1"/>
                </a:solidFill>
              </a:rPr>
              <a:t>25°</a:t>
            </a:r>
            <a:endParaRPr lang="en-US" sz="1697" dirty="0"/>
          </a:p>
        </p:txBody>
      </p:sp>
      <p:sp>
        <p:nvSpPr>
          <p:cNvPr id="10" name="Diagram Particle 5"/>
          <p:cNvSpPr/>
          <p:nvPr/>
        </p:nvSpPr>
        <p:spPr>
          <a:xfrm>
            <a:off x="8082290" y="1048908"/>
            <a:ext cx="705002" cy="705002"/>
          </a:xfrm>
          <a:custGeom>
            <a:avLst/>
            <a:gdLst/>
            <a:ahLst/>
            <a:cxnLst/>
            <a:rect l="l" t="t" r="r" b="b"/>
            <a:pathLst>
              <a:path w="705002" h="705002">
                <a:moveTo>
                  <a:pt x="224211" y="705002"/>
                </a:moveTo>
                <a:lnTo>
                  <a:pt x="705002" y="480792"/>
                </a:lnTo>
                <a:lnTo>
                  <a:pt x="480792" y="0"/>
                </a:lnTo>
                <a:lnTo>
                  <a:pt x="0" y="224211"/>
                </a:lnTo>
                <a:close/>
              </a:path>
            </a:pathLst>
          </a:custGeom>
          <a:solidFill>
            <a:schemeClr val="bg1"/>
          </a:solidFill>
          <a:ln w="24892">
            <a:solidFill>
              <a:schemeClr val="accent1"/>
            </a:solidFill>
            <a:prstDash val="solid"/>
          </a:ln>
        </p:spPr>
      </p:sp>
      <p:sp>
        <p:nvSpPr>
          <p:cNvPr id="11" name="Diagram label 6"/>
          <p:cNvSpPr txBox="1"/>
          <p:nvPr/>
        </p:nvSpPr>
        <p:spPr>
          <a:xfrm rot="20100000">
            <a:off x="8180222" y="1298997"/>
            <a:ext cx="509138" cy="204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chemeClr val="accent1"/>
                </a:solidFill>
              </a:rPr>
              <a:t>4 kg</a:t>
            </a:r>
            <a:endParaRPr lang="en-US" sz="1240" dirty="0"/>
          </a:p>
        </p:txBody>
      </p:sp>
      <p:sp>
        <p:nvSpPr>
          <p:cNvPr id="12" name="Diagram arrow 7"/>
          <p:cNvSpPr/>
          <p:nvPr/>
        </p:nvSpPr>
        <p:spPr>
          <a:xfrm flipV="1">
            <a:off x="8675187" y="938997"/>
            <a:ext cx="751180" cy="350307"/>
          </a:xfrm>
          <a:prstGeom prst="line">
            <a:avLst/>
          </a:prstGeom>
          <a:noFill/>
          <a:ln w="28956">
            <a:solidFill>
              <a:schemeClr val="accent2"/>
            </a:solidFill>
            <a:prstDash val="solid"/>
            <a:tailEnd type="triangle" w="lg" len="lg"/>
          </a:ln>
        </p:spPr>
      </p:sp>
      <p:sp>
        <p:nvSpPr>
          <p:cNvPr id="13" name="Diagram label 8"/>
          <p:cNvSpPr txBox="1"/>
          <p:nvPr/>
        </p:nvSpPr>
        <p:spPr>
          <a:xfrm>
            <a:off x="9531523" y="663672"/>
            <a:ext cx="252192" cy="2801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97" dirty="0">
                <a:solidFill>
                  <a:schemeClr val="accent2"/>
                </a:solidFill>
              </a:rPr>
              <a:t>P</a:t>
            </a:r>
            <a:endParaRPr lang="en-US" sz="1697" dirty="0"/>
          </a:p>
        </p:txBody>
      </p:sp>
      <p:sp>
        <p:nvSpPr>
          <p:cNvPr id="14" name="Diagram arrow 9"/>
          <p:cNvSpPr/>
          <p:nvPr/>
        </p:nvSpPr>
        <p:spPr>
          <a:xfrm flipH="1">
            <a:off x="7555870" y="1513423"/>
            <a:ext cx="638526" cy="297729"/>
          </a:xfrm>
          <a:prstGeom prst="line">
            <a:avLst/>
          </a:prstGeom>
          <a:noFill/>
          <a:ln w="28956">
            <a:solidFill>
              <a:schemeClr val="accent3"/>
            </a:solidFill>
            <a:prstDash val="solid"/>
            <a:tailEnd type="triangle" w="lg" len="lg"/>
          </a:ln>
        </p:spPr>
      </p:sp>
      <p:sp>
        <p:nvSpPr>
          <p:cNvPr id="15" name="Diagram label 10"/>
          <p:cNvSpPr txBox="1"/>
          <p:nvPr/>
        </p:nvSpPr>
        <p:spPr>
          <a:xfrm>
            <a:off x="7198523" y="1834378"/>
            <a:ext cx="252192" cy="280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97" dirty="0">
                <a:solidFill>
                  <a:schemeClr val="accent3"/>
                </a:solidFill>
              </a:rPr>
              <a:t>F</a:t>
            </a:r>
            <a:endParaRPr lang="en-US" sz="1697" dirty="0"/>
          </a:p>
        </p:txBody>
      </p:sp>
      <p:sp>
        <p:nvSpPr>
          <p:cNvPr id="16" name="Diagram arrow 11"/>
          <p:cNvSpPr/>
          <p:nvPr/>
        </p:nvSpPr>
        <p:spPr>
          <a:xfrm flipH="1" flipV="1">
            <a:off x="8024957" y="522488"/>
            <a:ext cx="297729" cy="638526"/>
          </a:xfrm>
          <a:prstGeom prst="line">
            <a:avLst/>
          </a:prstGeom>
          <a:noFill/>
          <a:ln w="28956">
            <a:solidFill>
              <a:schemeClr val="accent4"/>
            </a:solidFill>
            <a:prstDash val="solid"/>
            <a:tailEnd type="triangle" w="lg" len="lg"/>
          </a:ln>
        </p:spPr>
      </p:sp>
      <p:sp>
        <p:nvSpPr>
          <p:cNvPr id="17" name="Diagram label 12"/>
          <p:cNvSpPr txBox="1"/>
          <p:nvPr/>
        </p:nvSpPr>
        <p:spPr>
          <a:xfrm>
            <a:off x="7723754" y="191018"/>
            <a:ext cx="252192" cy="2801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697" dirty="0">
                <a:solidFill>
                  <a:schemeClr val="accent4"/>
                </a:solidFill>
              </a:rPr>
              <a:t>R</a:t>
            </a:r>
            <a:endParaRPr lang="en-US" sz="1697" dirty="0"/>
          </a:p>
        </p:txBody>
      </p:sp>
      <p:sp>
        <p:nvSpPr>
          <p:cNvPr id="18" name="Diagram arrow 13"/>
          <p:cNvSpPr/>
          <p:nvPr/>
        </p:nvSpPr>
        <p:spPr>
          <a:xfrm>
            <a:off x="8546897" y="1641714"/>
            <a:ext cx="0" cy="663123"/>
          </a:xfrm>
          <a:prstGeom prst="line">
            <a:avLst/>
          </a:prstGeom>
          <a:noFill/>
          <a:ln w="28956">
            <a:solidFill>
              <a:schemeClr val="accent1"/>
            </a:solidFill>
            <a:prstDash val="solid"/>
            <a:tailEnd type="triangle" w="lg" len="lg"/>
          </a:ln>
        </p:spPr>
      </p:sp>
      <p:sp>
        <p:nvSpPr>
          <p:cNvPr id="19" name="Diagram label 14"/>
          <p:cNvSpPr txBox="1"/>
          <p:nvPr/>
        </p:nvSpPr>
        <p:spPr>
          <a:xfrm>
            <a:off x="8629741" y="2065264"/>
            <a:ext cx="385785" cy="280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97" dirty="0">
                <a:solidFill>
                  <a:schemeClr val="accent1"/>
                </a:solidFill>
              </a:rPr>
              <a:t>4g</a:t>
            </a:r>
            <a:endParaRPr lang="en-US" sz="1697" dirty="0"/>
          </a:p>
        </p:txBody>
      </p:sp>
      <p:sp>
        <p:nvSpPr>
          <p:cNvPr id="20" name="Solution text"/>
          <p:cNvSpPr txBox="1"/>
          <p:nvPr/>
        </p:nvSpPr>
        <p:spPr>
          <a:xfrm>
            <a:off x="5842010" y="2675443"/>
            <a:ext cx="6265377" cy="2451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Resolve perpendicular to the plane: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R = 4g cos 25° = 4 × 9.8 × cos 25° = 35.52… N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The sledge is moving, so friction is limiting: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F = μR = 0.15 × 35.52… = 5.329… N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Resolve parallel to the plane (constant speed, so the forces balance):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P = F + 4g sin 25° = 5.329… + 16.56… = 21.89… N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Work done by P = P × d = 21.89… × 12 = 263 J (3 s.f.)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Check: work done against friction + work done against gravity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= 5.329… × 12 + 4 × 9.8 × 12 sin 25° = 63.94… + 198.7… = 263 J ✓</a:t>
            </a:r>
            <a:endParaRPr lang="en-US" sz="1400" dirty="0"/>
          </a:p>
        </p:txBody>
      </p:sp>
      <p:sp>
        <p:nvSpPr>
          <p:cNvPr id="21" name="Previous slide">
            <a:hlinkClick r:id="" action="ppaction://hlinkshowjump?jump=previousslide"/>
          </p:cNvPr>
          <p:cNvSpPr txBox="1"/>
          <p:nvPr/>
        </p:nvSpPr>
        <p:spPr>
          <a:xfrm>
            <a:off x="2031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Previous</a:t>
            </a:r>
            <a:endParaRPr lang="en-US" sz="1600" dirty="0"/>
          </a:p>
        </p:txBody>
      </p:sp>
      <p:sp>
        <p:nvSpPr>
          <p:cNvPr id="22" name="Next slide">
            <a:hlinkClick r:id="" action="ppaction://hlinkshowjump?jump=nextslide"/>
          </p:cNvPr>
          <p:cNvSpPr txBox="1"/>
          <p:nvPr/>
        </p:nvSpPr>
        <p:spPr>
          <a:xfrm>
            <a:off x="107187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Next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237104" y="220096"/>
            <a:ext cx="5587990" cy="5503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Work done by a force at an angle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Only the component of a force in the direction of motion does work.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force of magnitude P N acting at an angle θ to the direction of motion has a component P cos θ in the direction of motion and a component P sin θ perpendicular to it.</a:t>
            </a:r>
            <a:endParaRPr lang="en-US" sz="1400" dirty="0"/>
          </a:p>
          <a:p>
            <a:pPr algn="ctr" indent="0" marL="0">
              <a:lnSpc>
                <a:spcPts val="2070"/>
              </a:lnSpc>
              <a:spcBef>
                <a:spcPts val="267"/>
              </a:spcBef>
              <a:spcAft>
                <a:spcPts val="1067"/>
              </a:spcAft>
              <a:buNone/>
            </a:pPr>
            <a:r>
              <a:rPr lang="en-US" sz="1533" dirty="0">
                <a:solidFill>
                  <a:schemeClr val="tx1"/>
                </a:solidFill>
              </a:rPr>
              <a:t>Work done = P cos θ × d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perpendicular component does no work because the particle does not move in that direction. For the same reason, the normal reaction R does no work.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 Examples 1 to 3 the pulling force acted along the slope, so θ = 0° and the work done was simply force × distance.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When a force is inclined to the direction of motion, always: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Mark the angle between the force and the direction of motion on your diagram.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Resolve the force parallel to the direction of motion.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Multiply this component by the distance moved.</a:t>
            </a:r>
            <a:endParaRPr lang="en-US" sz="1400" dirty="0"/>
          </a:p>
        </p:txBody>
      </p:sp>
      <p:sp>
        <p:nvSpPr>
          <p:cNvPr id="3" name="Diagram line 1"/>
          <p:cNvSpPr/>
          <p:nvPr/>
        </p:nvSpPr>
        <p:spPr>
          <a:xfrm>
            <a:off x="6460785" y="1692372"/>
            <a:ext cx="5298674" cy="0"/>
          </a:xfrm>
          <a:prstGeom prst="line">
            <a:avLst/>
          </a:prstGeom>
          <a:noFill/>
          <a:ln w="24892">
            <a:solidFill>
              <a:schemeClr val="tx1"/>
            </a:solidFill>
            <a:prstDash val="solid"/>
          </a:ln>
        </p:spPr>
      </p:sp>
      <p:sp>
        <p:nvSpPr>
          <p:cNvPr id="4" name="Diagram Particle 2"/>
          <p:cNvSpPr/>
          <p:nvPr/>
        </p:nvSpPr>
        <p:spPr>
          <a:xfrm>
            <a:off x="6791980" y="1029980"/>
            <a:ext cx="1241847" cy="662300"/>
          </a:xfrm>
          <a:custGeom>
            <a:avLst/>
            <a:gdLst/>
            <a:ahLst/>
            <a:cxnLst/>
            <a:rect l="l" t="t" r="r" b="b"/>
            <a:pathLst>
              <a:path w="1241847" h="662300">
                <a:moveTo>
                  <a:pt x="0" y="662300"/>
                </a:moveTo>
                <a:lnTo>
                  <a:pt x="1241847" y="662300"/>
                </a:lnTo>
                <a:lnTo>
                  <a:pt x="124184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4892">
            <a:solidFill>
              <a:schemeClr val="accent1"/>
            </a:solidFill>
            <a:prstDash val="solid"/>
          </a:ln>
        </p:spPr>
      </p:sp>
      <p:sp>
        <p:nvSpPr>
          <p:cNvPr id="5" name="Diagram line 3"/>
          <p:cNvSpPr/>
          <p:nvPr/>
        </p:nvSpPr>
        <p:spPr>
          <a:xfrm>
            <a:off x="8033827" y="1361176"/>
            <a:ext cx="1505742" cy="0"/>
          </a:xfrm>
          <a:prstGeom prst="line">
            <a:avLst/>
          </a:prstGeom>
          <a:noFill/>
          <a:ln w="20701">
            <a:solidFill>
              <a:schemeClr val="accent2"/>
            </a:solidFill>
            <a:prstDash val="dash"/>
          </a:ln>
        </p:spPr>
      </p:sp>
      <p:sp>
        <p:nvSpPr>
          <p:cNvPr id="6" name="Diagram line 4"/>
          <p:cNvSpPr/>
          <p:nvPr/>
        </p:nvSpPr>
        <p:spPr>
          <a:xfrm flipV="1">
            <a:off x="9539569" y="491856"/>
            <a:ext cx="0" cy="869320"/>
          </a:xfrm>
          <a:prstGeom prst="line">
            <a:avLst/>
          </a:prstGeom>
          <a:noFill/>
          <a:ln w="20701">
            <a:solidFill>
              <a:schemeClr val="accent2"/>
            </a:solidFill>
            <a:prstDash val="dash"/>
          </a:ln>
        </p:spPr>
      </p:sp>
      <p:sp>
        <p:nvSpPr>
          <p:cNvPr id="7" name="Diagram shape 5"/>
          <p:cNvSpPr/>
          <p:nvPr/>
        </p:nvSpPr>
        <p:spPr>
          <a:xfrm>
            <a:off x="9423624" y="1245230"/>
            <a:ext cx="115946" cy="115946"/>
          </a:xfrm>
          <a:custGeom>
            <a:avLst/>
            <a:gdLst/>
            <a:ahLst/>
            <a:cxnLst/>
            <a:rect l="l" t="t" r="r" b="b"/>
            <a:pathLst>
              <a:path w="115946" h="115946">
                <a:moveTo>
                  <a:pt x="0" y="115946"/>
                </a:moveTo>
                <a:lnTo>
                  <a:pt x="0" y="0"/>
                </a:lnTo>
                <a:lnTo>
                  <a:pt x="115946" y="0"/>
                </a:lnTo>
              </a:path>
            </a:pathLst>
          </a:custGeom>
          <a:noFill/>
          <a:ln w="12446">
            <a:solidFill>
              <a:schemeClr val="accent2"/>
            </a:solidFill>
            <a:prstDash val="solid"/>
          </a:ln>
        </p:spPr>
      </p:sp>
      <p:sp>
        <p:nvSpPr>
          <p:cNvPr id="8" name="Diagram label 6"/>
          <p:cNvSpPr txBox="1"/>
          <p:nvPr/>
        </p:nvSpPr>
        <p:spPr>
          <a:xfrm>
            <a:off x="8461858" y="1420155"/>
            <a:ext cx="980877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65" dirty="0">
                <a:solidFill>
                  <a:schemeClr val="accent2"/>
                </a:solidFill>
              </a:rPr>
              <a:t>P cos θ</a:t>
            </a:r>
            <a:endParaRPr lang="en-US" sz="1565" dirty="0"/>
          </a:p>
        </p:txBody>
      </p:sp>
      <p:sp>
        <p:nvSpPr>
          <p:cNvPr id="9" name="Diagram label 7"/>
          <p:cNvSpPr txBox="1"/>
          <p:nvPr/>
        </p:nvSpPr>
        <p:spPr>
          <a:xfrm>
            <a:off x="9638873" y="797357"/>
            <a:ext cx="980877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65" dirty="0">
                <a:solidFill>
                  <a:schemeClr val="accent2"/>
                </a:solidFill>
              </a:rPr>
              <a:t>P sin θ</a:t>
            </a:r>
            <a:endParaRPr lang="en-US" sz="1565" dirty="0"/>
          </a:p>
        </p:txBody>
      </p:sp>
      <p:sp>
        <p:nvSpPr>
          <p:cNvPr id="10" name="Diagram shape 8"/>
          <p:cNvSpPr/>
          <p:nvPr/>
        </p:nvSpPr>
        <p:spPr>
          <a:xfrm>
            <a:off x="8607430" y="1029980"/>
            <a:ext cx="88697" cy="331196"/>
          </a:xfrm>
          <a:custGeom>
            <a:avLst/>
            <a:gdLst/>
            <a:ahLst/>
            <a:cxnLst/>
            <a:rect l="l" t="t" r="r" b="b"/>
            <a:pathLst>
              <a:path w="88697" h="331196">
                <a:moveTo>
                  <a:pt x="88697" y="331196"/>
                </a:moveTo>
                <a:lnTo>
                  <a:pt x="88422" y="309524"/>
                </a:lnTo>
                <a:lnTo>
                  <a:pt x="87325" y="287853"/>
                </a:lnTo>
                <a:lnTo>
                  <a:pt x="85588" y="266273"/>
                </a:lnTo>
                <a:lnTo>
                  <a:pt x="83028" y="244693"/>
                </a:lnTo>
                <a:lnTo>
                  <a:pt x="79919" y="223296"/>
                </a:lnTo>
                <a:lnTo>
                  <a:pt x="75987" y="201991"/>
                </a:lnTo>
                <a:lnTo>
                  <a:pt x="71415" y="180777"/>
                </a:lnTo>
                <a:lnTo>
                  <a:pt x="66203" y="159746"/>
                </a:lnTo>
                <a:lnTo>
                  <a:pt x="60259" y="138897"/>
                </a:lnTo>
                <a:lnTo>
                  <a:pt x="53584" y="118232"/>
                </a:lnTo>
                <a:lnTo>
                  <a:pt x="46269" y="97841"/>
                </a:lnTo>
                <a:lnTo>
                  <a:pt x="38313" y="77724"/>
                </a:lnTo>
                <a:lnTo>
                  <a:pt x="29718" y="57790"/>
                </a:lnTo>
                <a:lnTo>
                  <a:pt x="20391" y="38222"/>
                </a:lnTo>
                <a:lnTo>
                  <a:pt x="10516" y="18928"/>
                </a:lnTo>
                <a:lnTo>
                  <a:pt x="0" y="0"/>
                </a:lnTo>
              </a:path>
            </a:pathLst>
          </a:custGeom>
          <a:noFill/>
          <a:ln w="16510">
            <a:solidFill>
              <a:schemeClr val="tx1"/>
            </a:solidFill>
            <a:prstDash val="solid"/>
          </a:ln>
        </p:spPr>
      </p:sp>
      <p:sp>
        <p:nvSpPr>
          <p:cNvPr id="11" name="Diagram label 9"/>
          <p:cNvSpPr txBox="1"/>
          <p:nvPr/>
        </p:nvSpPr>
        <p:spPr>
          <a:xfrm>
            <a:off x="8762695" y="1066282"/>
            <a:ext cx="25200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95" dirty="0">
                <a:solidFill>
                  <a:schemeClr val="tx1"/>
                </a:solidFill>
              </a:rPr>
              <a:t>θ</a:t>
            </a:r>
            <a:endParaRPr lang="en-US" sz="1695" dirty="0"/>
          </a:p>
        </p:txBody>
      </p:sp>
      <p:sp>
        <p:nvSpPr>
          <p:cNvPr id="12" name="Diagram arrow 10"/>
          <p:cNvSpPr/>
          <p:nvPr/>
        </p:nvSpPr>
        <p:spPr>
          <a:xfrm flipV="1">
            <a:off x="8033827" y="491856"/>
            <a:ext cx="1505742" cy="869320"/>
          </a:xfrm>
          <a:prstGeom prst="line">
            <a:avLst/>
          </a:prstGeom>
          <a:noFill/>
          <a:ln w="28956">
            <a:solidFill>
              <a:schemeClr val="accent2"/>
            </a:solidFill>
            <a:prstDash val="solid"/>
            <a:tailEnd type="triangle" w="lg" len="lg"/>
          </a:ln>
        </p:spPr>
      </p:sp>
      <p:sp>
        <p:nvSpPr>
          <p:cNvPr id="13" name="Diagram label 11"/>
          <p:cNvSpPr txBox="1"/>
          <p:nvPr/>
        </p:nvSpPr>
        <p:spPr>
          <a:xfrm>
            <a:off x="9639879" y="207843"/>
            <a:ext cx="25200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95" dirty="0">
                <a:solidFill>
                  <a:schemeClr val="accent2"/>
                </a:solidFill>
              </a:rPr>
              <a:t>P</a:t>
            </a:r>
            <a:endParaRPr lang="en-US" sz="1695" dirty="0"/>
          </a:p>
        </p:txBody>
      </p:sp>
      <p:sp>
        <p:nvSpPr>
          <p:cNvPr id="14" name="Diagram line 12"/>
          <p:cNvSpPr/>
          <p:nvPr/>
        </p:nvSpPr>
        <p:spPr>
          <a:xfrm flipV="1">
            <a:off x="6791980" y="1899300"/>
            <a:ext cx="0" cy="149047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</a:ln>
        </p:spPr>
      </p:sp>
      <p:sp>
        <p:nvSpPr>
          <p:cNvPr id="15" name="Diagram line 13"/>
          <p:cNvSpPr/>
          <p:nvPr/>
        </p:nvSpPr>
        <p:spPr>
          <a:xfrm flipV="1">
            <a:off x="10931561" y="1899300"/>
            <a:ext cx="0" cy="149047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</a:ln>
        </p:spPr>
      </p:sp>
      <p:sp>
        <p:nvSpPr>
          <p:cNvPr id="16" name="Diagram arrow 14"/>
          <p:cNvSpPr/>
          <p:nvPr/>
        </p:nvSpPr>
        <p:spPr>
          <a:xfrm>
            <a:off x="6791980" y="1973824"/>
            <a:ext cx="4139580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17" name="Diagram label 15"/>
          <p:cNvSpPr txBox="1"/>
          <p:nvPr/>
        </p:nvSpPr>
        <p:spPr>
          <a:xfrm>
            <a:off x="8735720" y="2082272"/>
            <a:ext cx="25200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5" dirty="0">
                <a:solidFill>
                  <a:schemeClr val="tx1"/>
                </a:solidFill>
              </a:rPr>
              <a:t>d</a:t>
            </a:r>
            <a:endParaRPr lang="en-US" sz="1695" dirty="0"/>
          </a:p>
        </p:txBody>
      </p:sp>
      <p:sp>
        <p:nvSpPr>
          <p:cNvPr id="18" name="Show that"/>
          <p:cNvSpPr txBox="1"/>
          <p:nvPr/>
        </p:nvSpPr>
        <p:spPr>
          <a:xfrm>
            <a:off x="6231453" y="2514600"/>
            <a:ext cx="5757337" cy="97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67" dirty="0">
                <a:solidFill>
                  <a:schemeClr val="tx1"/>
                </a:solidFill>
              </a:rPr>
              <a:t>Show that the work done by a force P, inclined at θ to the horizontal, in pulling a particle a distance d across a horizontal surface is Pd cos θ</a:t>
            </a:r>
            <a:endParaRPr lang="en-US" sz="1867" dirty="0"/>
          </a:p>
        </p:txBody>
      </p:sp>
      <p:sp>
        <p:nvSpPr>
          <p:cNvPr id="19" name="Show button"/>
          <p:cNvSpPr/>
          <p:nvPr/>
        </p:nvSpPr>
        <p:spPr>
          <a:xfrm>
            <a:off x="6231453" y="3542111"/>
            <a:ext cx="846643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Show</a:t>
            </a:r>
            <a:endParaRPr lang="en-US" sz="1600" dirty="0"/>
          </a:p>
        </p:txBody>
      </p:sp>
      <p:sp>
        <p:nvSpPr>
          <p:cNvPr id="20" name="Hide button"/>
          <p:cNvSpPr/>
          <p:nvPr/>
        </p:nvSpPr>
        <p:spPr>
          <a:xfrm>
            <a:off x="7196694" y="3542111"/>
            <a:ext cx="778977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Hide</a:t>
            </a:r>
            <a:endParaRPr lang="en-US" sz="1600" dirty="0"/>
          </a:p>
        </p:txBody>
      </p:sp>
      <p:sp>
        <p:nvSpPr>
          <p:cNvPr id="21" name="Solution text"/>
          <p:cNvSpPr txBox="1"/>
          <p:nvPr/>
        </p:nvSpPr>
        <p:spPr>
          <a:xfrm>
            <a:off x="6231453" y="4083985"/>
            <a:ext cx="5757337" cy="1403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Resolve the force horizontally and vertically.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Horizontal component = P cos θ, vertical component = P sin θ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The particle moves horizontally, so only P cos θ does work.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Work done = horizontal component × distance moved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= P cos θ × d = Pd cos θ</a:t>
            </a:r>
            <a:endParaRPr lang="en-US" sz="1467" dirty="0"/>
          </a:p>
        </p:txBody>
      </p:sp>
      <p:sp>
        <p:nvSpPr>
          <p:cNvPr id="22" name="Previous slide">
            <a:hlinkClick r:id="" action="ppaction://hlinkshowjump?jump=previousslide"/>
          </p:cNvPr>
          <p:cNvSpPr txBox="1"/>
          <p:nvPr/>
        </p:nvSpPr>
        <p:spPr>
          <a:xfrm>
            <a:off x="2031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Previous</a:t>
            </a:r>
            <a:endParaRPr lang="en-US" sz="1600" dirty="0"/>
          </a:p>
        </p:txBody>
      </p:sp>
      <p:sp>
        <p:nvSpPr>
          <p:cNvPr id="23" name="Next slide">
            <a:hlinkClick r:id="" action="ppaction://hlinkshowjump?jump=nextslide"/>
          </p:cNvPr>
          <p:cNvSpPr txBox="1"/>
          <p:nvPr/>
        </p:nvSpPr>
        <p:spPr>
          <a:xfrm>
            <a:off x="107187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Next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1" grpId="0"/>
      <p:bldP spid="2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237104" y="203180"/>
            <a:ext cx="5418643" cy="279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4. A crate is dragged 18 m across a smooth horizontal floor by a rope.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The tension in the rope is 32 N and the rope is inclined at 20° to the horizontal.</a:t>
            </a:r>
            <a:endParaRPr lang="en-US" sz="1667" dirty="0"/>
          </a:p>
        </p:txBody>
      </p:sp>
      <p:sp>
        <p:nvSpPr>
          <p:cNvPr id="3" name="Find"/>
          <p:cNvSpPr/>
          <p:nvPr/>
        </p:nvSpPr>
        <p:spPr>
          <a:xfrm>
            <a:off x="237104" y="1608521"/>
            <a:ext cx="5418643" cy="795894"/>
          </a:xfrm>
          <a:prstGeom prst="roundRect">
            <a:avLst>
              <a:gd name="adj" fmla="val 8513"/>
            </a:avLst>
          </a:prstGeom>
          <a:solidFill>
            <a:schemeClr val="bg2"/>
          </a:solidFill>
          <a:ln/>
        </p:spPr>
        <p:txBody>
          <a:bodyPr wrap="square" lIns="135509" tIns="118491" rIns="135509" bIns="118491" rtlCol="0" anchor="t"/>
          <a:lstStyle/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By modelling the crate as a particle, calculate the work done by the tension.</a:t>
            </a:r>
            <a:endParaRPr lang="en-US" sz="1667" dirty="0"/>
          </a:p>
        </p:txBody>
      </p:sp>
      <p:sp>
        <p:nvSpPr>
          <p:cNvPr id="4" name="Show button"/>
          <p:cNvSpPr/>
          <p:nvPr/>
        </p:nvSpPr>
        <p:spPr>
          <a:xfrm>
            <a:off x="237104" y="2539837"/>
            <a:ext cx="846643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Show</a:t>
            </a:r>
            <a:endParaRPr lang="en-US" sz="1600" dirty="0"/>
          </a:p>
        </p:txBody>
      </p:sp>
      <p:sp>
        <p:nvSpPr>
          <p:cNvPr id="5" name="Hide button"/>
          <p:cNvSpPr/>
          <p:nvPr/>
        </p:nvSpPr>
        <p:spPr>
          <a:xfrm>
            <a:off x="1202253" y="2539837"/>
            <a:ext cx="778977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Hide</a:t>
            </a:r>
            <a:endParaRPr lang="en-US" sz="1600" dirty="0"/>
          </a:p>
        </p:txBody>
      </p:sp>
      <p:sp>
        <p:nvSpPr>
          <p:cNvPr id="6" name="Diagram line 1"/>
          <p:cNvSpPr/>
          <p:nvPr/>
        </p:nvSpPr>
        <p:spPr>
          <a:xfrm>
            <a:off x="6001024" y="1607607"/>
            <a:ext cx="5947349" cy="0"/>
          </a:xfrm>
          <a:prstGeom prst="line">
            <a:avLst/>
          </a:prstGeom>
          <a:noFill/>
          <a:ln w="27940">
            <a:solidFill>
              <a:schemeClr val="tx1"/>
            </a:solidFill>
            <a:prstDash val="solid"/>
          </a:ln>
        </p:spPr>
      </p:sp>
      <p:sp>
        <p:nvSpPr>
          <p:cNvPr id="7" name="Diagram Particle 2"/>
          <p:cNvSpPr/>
          <p:nvPr/>
        </p:nvSpPr>
        <p:spPr>
          <a:xfrm>
            <a:off x="6372728" y="864199"/>
            <a:ext cx="1393911" cy="743407"/>
          </a:xfrm>
          <a:custGeom>
            <a:avLst/>
            <a:gdLst/>
            <a:ahLst/>
            <a:cxnLst/>
            <a:rect l="l" t="t" r="r" b="b"/>
            <a:pathLst>
              <a:path w="1393911" h="743407">
                <a:moveTo>
                  <a:pt x="0" y="743407"/>
                </a:moveTo>
                <a:lnTo>
                  <a:pt x="1393911" y="743407"/>
                </a:lnTo>
                <a:lnTo>
                  <a:pt x="13939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7940">
            <a:solidFill>
              <a:schemeClr val="accent1"/>
            </a:solidFill>
            <a:prstDash val="solid"/>
          </a:ln>
        </p:spPr>
      </p:sp>
      <p:sp>
        <p:nvSpPr>
          <p:cNvPr id="8" name="Diagram line 3"/>
          <p:cNvSpPr/>
          <p:nvPr/>
        </p:nvSpPr>
        <p:spPr>
          <a:xfrm>
            <a:off x="7766639" y="1235903"/>
            <a:ext cx="2112538" cy="0"/>
          </a:xfrm>
          <a:prstGeom prst="line">
            <a:avLst/>
          </a:prstGeom>
          <a:noFill/>
          <a:ln w="18542">
            <a:solidFill>
              <a:srgbClr val="555555"/>
            </a:solidFill>
            <a:prstDash val="dash"/>
          </a:ln>
        </p:spPr>
      </p:sp>
      <p:sp>
        <p:nvSpPr>
          <p:cNvPr id="9" name="Diagram shape 4"/>
          <p:cNvSpPr/>
          <p:nvPr/>
        </p:nvSpPr>
        <p:spPr>
          <a:xfrm>
            <a:off x="8465241" y="981608"/>
            <a:ext cx="44806" cy="254295"/>
          </a:xfrm>
          <a:custGeom>
            <a:avLst/>
            <a:gdLst/>
            <a:ahLst/>
            <a:cxnLst/>
            <a:rect l="l" t="t" r="r" b="b"/>
            <a:pathLst>
              <a:path w="44806" h="254295">
                <a:moveTo>
                  <a:pt x="44806" y="254295"/>
                </a:moveTo>
                <a:lnTo>
                  <a:pt x="44623" y="238018"/>
                </a:lnTo>
                <a:lnTo>
                  <a:pt x="44166" y="221833"/>
                </a:lnTo>
                <a:lnTo>
                  <a:pt x="43251" y="205649"/>
                </a:lnTo>
                <a:lnTo>
                  <a:pt x="41971" y="189464"/>
                </a:lnTo>
                <a:lnTo>
                  <a:pt x="40416" y="173370"/>
                </a:lnTo>
                <a:lnTo>
                  <a:pt x="38496" y="157185"/>
                </a:lnTo>
                <a:lnTo>
                  <a:pt x="36210" y="141183"/>
                </a:lnTo>
                <a:lnTo>
                  <a:pt x="33558" y="125181"/>
                </a:lnTo>
                <a:lnTo>
                  <a:pt x="30541" y="109271"/>
                </a:lnTo>
                <a:lnTo>
                  <a:pt x="27249" y="93360"/>
                </a:lnTo>
                <a:lnTo>
                  <a:pt x="23500" y="77541"/>
                </a:lnTo>
                <a:lnTo>
                  <a:pt x="19477" y="61813"/>
                </a:lnTo>
                <a:lnTo>
                  <a:pt x="15179" y="46269"/>
                </a:lnTo>
                <a:lnTo>
                  <a:pt x="10424" y="30724"/>
                </a:lnTo>
                <a:lnTo>
                  <a:pt x="5395" y="15270"/>
                </a:lnTo>
                <a:lnTo>
                  <a:pt x="0" y="0"/>
                </a:lnTo>
              </a:path>
            </a:pathLst>
          </a:custGeom>
          <a:noFill/>
          <a:ln w="18542">
            <a:solidFill>
              <a:schemeClr val="tx1"/>
            </a:solidFill>
            <a:prstDash val="solid"/>
          </a:ln>
        </p:spPr>
      </p:sp>
      <p:sp>
        <p:nvSpPr>
          <p:cNvPr id="10" name="Diagram label 5"/>
          <p:cNvSpPr txBox="1"/>
          <p:nvPr/>
        </p:nvSpPr>
        <p:spPr>
          <a:xfrm>
            <a:off x="8594811" y="962406"/>
            <a:ext cx="567934" cy="31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2" dirty="0">
                <a:solidFill>
                  <a:schemeClr val="tx1"/>
                </a:solidFill>
              </a:rPr>
              <a:t>20°</a:t>
            </a:r>
            <a:endParaRPr lang="en-US" sz="1902" dirty="0"/>
          </a:p>
        </p:txBody>
      </p:sp>
      <p:sp>
        <p:nvSpPr>
          <p:cNvPr id="11" name="Diagram arrow 6"/>
          <p:cNvSpPr/>
          <p:nvPr/>
        </p:nvSpPr>
        <p:spPr>
          <a:xfrm flipV="1">
            <a:off x="7766639" y="568482"/>
            <a:ext cx="1833738" cy="667421"/>
          </a:xfrm>
          <a:prstGeom prst="line">
            <a:avLst/>
          </a:prstGeom>
          <a:noFill/>
          <a:ln w="32512">
            <a:solidFill>
              <a:schemeClr val="accent2"/>
            </a:solidFill>
            <a:prstDash val="solid"/>
            <a:tailEnd type="triangle" w="lg" len="lg"/>
          </a:ln>
        </p:spPr>
      </p:sp>
      <p:sp>
        <p:nvSpPr>
          <p:cNvPr id="12" name="Diagram label 7"/>
          <p:cNvSpPr txBox="1"/>
          <p:nvPr/>
        </p:nvSpPr>
        <p:spPr>
          <a:xfrm>
            <a:off x="9722632" y="366857"/>
            <a:ext cx="717713" cy="31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2" dirty="0">
                <a:solidFill>
                  <a:schemeClr val="accent2"/>
                </a:solidFill>
              </a:rPr>
              <a:t>32 N</a:t>
            </a:r>
            <a:endParaRPr lang="en-US" sz="1902" dirty="0"/>
          </a:p>
        </p:txBody>
      </p:sp>
      <p:sp>
        <p:nvSpPr>
          <p:cNvPr id="13" name="Diagram line 8"/>
          <p:cNvSpPr/>
          <p:nvPr/>
        </p:nvSpPr>
        <p:spPr>
          <a:xfrm flipV="1">
            <a:off x="6372728" y="1839864"/>
            <a:ext cx="0" cy="167244"/>
          </a:xfrm>
          <a:prstGeom prst="line">
            <a:avLst/>
          </a:prstGeom>
          <a:noFill/>
          <a:ln w="18542">
            <a:solidFill>
              <a:srgbClr val="333333"/>
            </a:solidFill>
            <a:prstDash val="solid"/>
          </a:ln>
        </p:spPr>
      </p:sp>
      <p:sp>
        <p:nvSpPr>
          <p:cNvPr id="14" name="Diagram line 9"/>
          <p:cNvSpPr/>
          <p:nvPr/>
        </p:nvSpPr>
        <p:spPr>
          <a:xfrm flipV="1">
            <a:off x="11019069" y="1839864"/>
            <a:ext cx="0" cy="167244"/>
          </a:xfrm>
          <a:prstGeom prst="line">
            <a:avLst/>
          </a:prstGeom>
          <a:noFill/>
          <a:ln w="18542">
            <a:solidFill>
              <a:srgbClr val="333333"/>
            </a:solidFill>
            <a:prstDash val="solid"/>
          </a:ln>
        </p:spPr>
      </p:sp>
      <p:sp>
        <p:nvSpPr>
          <p:cNvPr id="15" name="Diagram arrow 10"/>
          <p:cNvSpPr/>
          <p:nvPr/>
        </p:nvSpPr>
        <p:spPr>
          <a:xfrm>
            <a:off x="6372728" y="1923532"/>
            <a:ext cx="4646341" cy="0"/>
          </a:xfrm>
          <a:prstGeom prst="line">
            <a:avLst/>
          </a:prstGeom>
          <a:noFill/>
          <a:ln w="18542">
            <a:solidFill>
              <a:srgbClr val="333333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16" name="Diagram label 11"/>
          <p:cNvSpPr txBox="1"/>
          <p:nvPr/>
        </p:nvSpPr>
        <p:spPr>
          <a:xfrm>
            <a:off x="8337042" y="2045238"/>
            <a:ext cx="717713" cy="31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2" dirty="0">
                <a:solidFill>
                  <a:schemeClr val="tx1"/>
                </a:solidFill>
              </a:rPr>
              <a:t>18 m</a:t>
            </a:r>
            <a:endParaRPr lang="en-US" sz="1902" dirty="0"/>
          </a:p>
        </p:txBody>
      </p:sp>
      <p:sp>
        <p:nvSpPr>
          <p:cNvPr id="17" name="Solution text"/>
          <p:cNvSpPr txBox="1"/>
          <p:nvPr/>
        </p:nvSpPr>
        <p:spPr>
          <a:xfrm>
            <a:off x="5842010" y="2675443"/>
            <a:ext cx="6265377" cy="2451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The crate moves horizontally, so only the horizontal component of the tension does work.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Horizontal component = 32 cos 20° = 30.07… N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Work done = horizontal component of force × distance moved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= 32 cos 20° × 18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= 541.2…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The work done by the tension is 541 J (3 s.f.)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The vertical component, 32 sin 20°, is perpendicular to the motion, so it does no work.</a:t>
            </a:r>
            <a:endParaRPr lang="en-US" sz="1400" dirty="0"/>
          </a:p>
        </p:txBody>
      </p:sp>
      <p:sp>
        <p:nvSpPr>
          <p:cNvPr id="18" name="Previous slide">
            <a:hlinkClick r:id="" action="ppaction://hlinkshowjump?jump=previousslide"/>
          </p:cNvPr>
          <p:cNvSpPr txBox="1"/>
          <p:nvPr/>
        </p:nvSpPr>
        <p:spPr>
          <a:xfrm>
            <a:off x="2031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Previous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17" grpId="0"/>
      <p:bldP spid="17" grpId="1"/>
    </p:bldLst>
  </p:timing>
</p:sld>
</file>

<file path=ppt/theme/theme1.xml><?xml version="1.0" encoding="utf-8"?>
<a:theme xmlns:a="http://schemas.openxmlformats.org/drawingml/2006/main" name="Work Done on Ramps">
  <a:themeElements>
    <a:clrScheme name="Work Done on Ramps">
      <a:dk1>
        <a:srgbClr val="000000"/>
      </a:dk1>
      <a:lt1>
        <a:srgbClr val="FFFFFF"/>
      </a:lt1>
      <a:dk2>
        <a:srgbClr val="1F2D50"/>
      </a:dk2>
      <a:lt2>
        <a:srgbClr val="B7E1F1"/>
      </a:lt2>
      <a:accent1>
        <a:srgbClr val="7030A0"/>
      </a:accent1>
      <a:accent2>
        <a:srgbClr val="12A150"/>
      </a:accent2>
      <a:accent3>
        <a:srgbClr val="C8102E"/>
      </a:accent3>
      <a:accent4>
        <a:srgbClr val="1F6FBF"/>
      </a:accent4>
      <a:accent5>
        <a:srgbClr val="1E7DA8"/>
      </a:accent5>
      <a:accent6>
        <a:srgbClr val="3AA935"/>
      </a:accent6>
      <a:hlink>
        <a:srgbClr val="1F2D50"/>
      </a:hlink>
      <a:folHlink>
        <a:srgbClr val="7030A0"/>
      </a:folHlink>
    </a:clrScheme>
    <a:fontScheme name="Work Done on Ramps">
      <a:majorFont>
        <a:latin typeface="Arial Rounded MT 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Done on Ramps</dc:title>
  <dc:subject>PptxGenJS Presentation</dc:subject>
  <dc:creator>PptxGenJS</dc:creator>
  <cp:lastModifiedBy>PptxGenJS</cp:lastModifiedBy>
  <cp:revision>1</cp:revision>
  <dcterms:created xsi:type="dcterms:W3CDTF">2026-10-26T11:29:11Z</dcterms:created>
  <dcterms:modified xsi:type="dcterms:W3CDTF">2026-10-26T11:29:11Z</dcterms:modified>
</cp:coreProperties>
</file>