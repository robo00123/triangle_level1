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b1a3213-f223-70dc-9784-0e1bcebe891a}">
          <p14:sldIdLst>
            <p14:sldId id="256"/>
          </p14:sldIdLst>
        </p14:section>
        <p14:section name="The two results" id="{149e7a09-1579-c281-04d1-43d265abe896}">
          <p14:sldIdLst>
            <p14:sldId id="257"/>
            <p14:sldId id="258"/>
          </p14:sldIdLst>
        </p14:section>
        <p14:section name="Examples" id="{11ca1012-35a2-be90-9c19-bf4728612fc4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smooth particle rebounds from a smooth fixed wall. With w parallel to the wall and I perpendicular to it: u.w = v.w (velocity along the wall unchanged) and −eu.I = v.I (velocity perpendicular to the wall reversed and multiplied by 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Show to reveal the proof. Put u and ŵ tail to tail to see that the angle between them is 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Show to reveal the proof. The minus sign appears because u points towards the wall, against 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a) v = i + 7j  b) √5 = 2.24 N s (3 s.f.)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a) shown  b) e = 9/16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a) 0 &lt; e &lt; 1/2  b) (8.5i + 3.5j) m/s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8970447" y="1274216"/>
            <a:ext cx="3979377" cy="5084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 rot="2700000">
            <a:off x="9263421" y="617220"/>
            <a:ext cx="3979377" cy="778977"/>
          </a:xfrm>
          <a:prstGeom prst="rect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33" b="1" dirty="0">
                <a:solidFill>
                  <a:schemeClr val="bg1"/>
                </a:solidFill>
              </a:rPr>
              <a:t>Further</a:t>
            </a:r>
            <a:endParaRPr lang="en-US" sz="2133" dirty="0"/>
          </a:p>
          <a:p>
            <a:pPr algn="ctr" indent="0" marL="0">
              <a:buNone/>
            </a:pPr>
            <a:r>
              <a:rPr lang="en-US" sz="2133" b="1" dirty="0">
                <a:solidFill>
                  <a:schemeClr val="bg1"/>
                </a:solidFill>
              </a:rPr>
              <a:t>Mechanics 1</a:t>
            </a:r>
            <a:endParaRPr lang="en-US" sz="2133" dirty="0"/>
          </a:p>
        </p:txBody>
      </p:sp>
      <p:sp>
        <p:nvSpPr>
          <p:cNvPr id="4" name="Text 2"/>
          <p:cNvSpPr/>
          <p:nvPr/>
        </p:nvSpPr>
        <p:spPr>
          <a:xfrm>
            <a:off x="3979377" y="6282294"/>
            <a:ext cx="4233306" cy="3217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67" b="1" dirty="0">
                <a:solidFill>
                  <a:srgbClr val="4B2382"/>
                </a:solidFill>
              </a:rPr>
              <a:t>Mr Mathematics</a:t>
            </a:r>
            <a:endParaRPr lang="en-US" sz="2267" dirty="0"/>
          </a:p>
        </p:txBody>
      </p:sp>
      <p:sp>
        <p:nvSpPr>
          <p:cNvPr id="5" name="Text 3"/>
          <p:cNvSpPr/>
          <p:nvPr/>
        </p:nvSpPr>
        <p:spPr>
          <a:xfrm>
            <a:off x="3979377" y="6612484"/>
            <a:ext cx="4233306" cy="16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Maths Lessons to Engage and Inspire</a:t>
            </a:r>
            <a:endParaRPr lang="en-US" sz="10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304770" y="135423"/>
            <a:ext cx="8974653" cy="1049823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0" y="1185337"/>
            <a:ext cx="12191970" cy="7112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eor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7059" y="169347"/>
            <a:ext cx="0" cy="563883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3" name="Text 2"/>
          <p:cNvSpPr/>
          <p:nvPr/>
        </p:nvSpPr>
        <p:spPr>
          <a:xfrm>
            <a:off x="3979377" y="6282294"/>
            <a:ext cx="4233306" cy="3217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67" b="1" dirty="0">
                <a:solidFill>
                  <a:srgbClr val="4B2382"/>
                </a:solidFill>
              </a:rPr>
              <a:t>Mr Mathematics</a:t>
            </a:r>
            <a:endParaRPr lang="en-US" sz="2267" dirty="0"/>
          </a:p>
        </p:txBody>
      </p:sp>
      <p:sp>
        <p:nvSpPr>
          <p:cNvPr id="4" name="Text 3"/>
          <p:cNvSpPr/>
          <p:nvPr/>
        </p:nvSpPr>
        <p:spPr>
          <a:xfrm>
            <a:off x="3979377" y="6612484"/>
            <a:ext cx="4233306" cy="16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Maths Lessons to Engage and Inspire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body" hasCustomPrompt="1"/>
          </p:nvPr>
        </p:nvSpPr>
        <p:spPr>
          <a:xfrm>
            <a:off x="237104" y="220096"/>
            <a:ext cx="5587990" cy="550331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amp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3979377" y="6282294"/>
            <a:ext cx="4233306" cy="3217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67" b="1" dirty="0">
                <a:solidFill>
                  <a:srgbClr val="4B2382"/>
                </a:solidFill>
              </a:rPr>
              <a:t>Mr Mathematics</a:t>
            </a:r>
            <a:endParaRPr lang="en-US" sz="2267" dirty="0"/>
          </a:p>
        </p:txBody>
      </p:sp>
      <p:sp>
        <p:nvSpPr>
          <p:cNvPr id="3" name="Text 3"/>
          <p:cNvSpPr/>
          <p:nvPr/>
        </p:nvSpPr>
        <p:spPr>
          <a:xfrm>
            <a:off x="3979377" y="6612484"/>
            <a:ext cx="4233306" cy="169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Maths Lessons to Engage and Inspire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67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667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304770" y="135423"/>
            <a:ext cx="8974653" cy="1049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Rebounding Particles</a:t>
            </a:r>
            <a:endParaRPr lang="en-US" sz="6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0" y="1185337"/>
            <a:ext cx="12191970" cy="711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against inclined walls</a:t>
            </a:r>
            <a:endParaRPr lang="en-US" sz="4000" dirty="0"/>
          </a:p>
        </p:txBody>
      </p:sp>
      <p:sp>
        <p:nvSpPr>
          <p:cNvPr id="4" name="Key formulae"/>
          <p:cNvSpPr/>
          <p:nvPr/>
        </p:nvSpPr>
        <p:spPr>
          <a:xfrm>
            <a:off x="304770" y="2269084"/>
            <a:ext cx="5503316" cy="2116653"/>
          </a:xfrm>
          <a:prstGeom prst="roundRect">
            <a:avLst>
              <a:gd name="adj" fmla="val 5599"/>
            </a:avLst>
          </a:prstGeom>
          <a:noFill/>
          <a:ln w="25400">
            <a:solidFill>
              <a:schemeClr val="tx2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4600" dirty="0">
                <a:solidFill>
                  <a:schemeClr val="tx2"/>
                </a:solidFill>
              </a:rPr>
              <a:t>−</a:t>
            </a:r>
            <a:r>
              <a:rPr lang="en-US" sz="4600" i="1" dirty="0">
                <a:solidFill>
                  <a:schemeClr val="tx2"/>
                </a:solidFill>
              </a:rPr>
              <a:t>e</a:t>
            </a:r>
            <a:r>
              <a:rPr lang="en-US" sz="4600" b="1" i="1" dirty="0">
                <a:solidFill>
                  <a:schemeClr val="accent2"/>
                </a:solidFill>
              </a:rPr>
              <a:t>u</a:t>
            </a:r>
            <a:r>
              <a:rPr lang="en-US" sz="4600" dirty="0">
                <a:solidFill>
                  <a:schemeClr val="tx2"/>
                </a:solidFill>
              </a:rPr>
              <a:t>.</a:t>
            </a:r>
            <a:r>
              <a:rPr lang="en-US" sz="4600" b="1" i="1" dirty="0">
                <a:solidFill>
                  <a:schemeClr val="accent3"/>
                </a:solidFill>
              </a:rPr>
              <a:t>I</a:t>
            </a:r>
            <a:r>
              <a:rPr lang="en-US" sz="4600" dirty="0">
                <a:solidFill>
                  <a:schemeClr val="tx2"/>
                </a:solidFill>
              </a:rPr>
              <a:t> = </a:t>
            </a:r>
            <a:r>
              <a:rPr lang="en-US" sz="4600" b="1" i="1" dirty="0">
                <a:solidFill>
                  <a:schemeClr val="accent4"/>
                </a:solidFill>
              </a:rPr>
              <a:t>v</a:t>
            </a:r>
            <a:r>
              <a:rPr lang="en-US" sz="4600" dirty="0">
                <a:solidFill>
                  <a:schemeClr val="tx2"/>
                </a:solidFill>
              </a:rPr>
              <a:t>.</a:t>
            </a:r>
            <a:r>
              <a:rPr lang="en-US" sz="4600" b="1" i="1" dirty="0">
                <a:solidFill>
                  <a:schemeClr val="accent3"/>
                </a:solidFill>
              </a:rPr>
              <a:t>I</a:t>
            </a:r>
            <a:endParaRPr lang="en-US" sz="4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4600" b="1" i="1" dirty="0">
                <a:solidFill>
                  <a:schemeClr val="accent2"/>
                </a:solidFill>
              </a:rPr>
              <a:t>u</a:t>
            </a:r>
            <a:r>
              <a:rPr lang="en-US" sz="4600" dirty="0">
                <a:solidFill>
                  <a:schemeClr val="tx2"/>
                </a:solidFill>
              </a:rPr>
              <a:t>.</a:t>
            </a:r>
            <a:r>
              <a:rPr lang="en-US" sz="4600" b="1" i="1" dirty="0">
                <a:solidFill>
                  <a:schemeClr val="tx2"/>
                </a:solidFill>
              </a:rPr>
              <a:t>w</a:t>
            </a:r>
            <a:r>
              <a:rPr lang="en-US" sz="4600" dirty="0">
                <a:solidFill>
                  <a:schemeClr val="tx2"/>
                </a:solidFill>
              </a:rPr>
              <a:t> = </a:t>
            </a:r>
            <a:r>
              <a:rPr lang="en-US" sz="4600" b="1" i="1" dirty="0">
                <a:solidFill>
                  <a:schemeClr val="accent4"/>
                </a:solidFill>
              </a:rPr>
              <a:t>v</a:t>
            </a:r>
            <a:r>
              <a:rPr lang="en-US" sz="4600" dirty="0">
                <a:solidFill>
                  <a:schemeClr val="tx2"/>
                </a:solidFill>
              </a:rPr>
              <a:t>.</a:t>
            </a:r>
            <a:r>
              <a:rPr lang="en-US" sz="4600" b="1" i="1" dirty="0">
                <a:solidFill>
                  <a:schemeClr val="tx2"/>
                </a:solidFill>
              </a:rPr>
              <a:t>w</a:t>
            </a:r>
            <a:endParaRPr lang="en-US" sz="4600" dirty="0"/>
          </a:p>
        </p:txBody>
      </p:sp>
      <p:sp>
        <p:nvSpPr>
          <p:cNvPr id="5" name="Caption"/>
          <p:cNvSpPr/>
          <p:nvPr/>
        </p:nvSpPr>
        <p:spPr>
          <a:xfrm>
            <a:off x="304770" y="4572000"/>
            <a:ext cx="5503316" cy="1270010"/>
          </a:xfrm>
          <a:prstGeom prst="roundRect">
            <a:avLst>
              <a:gd name="adj" fmla="val 5335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tx1"/>
                </a:solidFill>
              </a:rPr>
              <a:t>Proof and Application</a:t>
            </a:r>
            <a:endParaRPr lang="en-US" sz="3200" dirty="0"/>
          </a:p>
        </p:txBody>
      </p:sp>
      <p:sp>
        <p:nvSpPr>
          <p:cNvPr id="6" name="Diagram line 1"/>
          <p:cNvSpPr/>
          <p:nvPr/>
        </p:nvSpPr>
        <p:spPr>
          <a:xfrm>
            <a:off x="8508218" y="590181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7" name="Diagram line 2"/>
          <p:cNvSpPr/>
          <p:nvPr/>
        </p:nvSpPr>
        <p:spPr>
          <a:xfrm>
            <a:off x="8582558" y="579574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8" name="Diagram line 3"/>
          <p:cNvSpPr/>
          <p:nvPr/>
        </p:nvSpPr>
        <p:spPr>
          <a:xfrm>
            <a:off x="8656899" y="5689580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9" name="Diagram line 4"/>
          <p:cNvSpPr/>
          <p:nvPr/>
        </p:nvSpPr>
        <p:spPr>
          <a:xfrm>
            <a:off x="8731148" y="5583418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0" name="Diagram line 5"/>
          <p:cNvSpPr/>
          <p:nvPr/>
        </p:nvSpPr>
        <p:spPr>
          <a:xfrm>
            <a:off x="8805489" y="5477256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1" name="Diagram line 6"/>
          <p:cNvSpPr/>
          <p:nvPr/>
        </p:nvSpPr>
        <p:spPr>
          <a:xfrm>
            <a:off x="8879830" y="5371186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2" name="Diagram line 7"/>
          <p:cNvSpPr/>
          <p:nvPr/>
        </p:nvSpPr>
        <p:spPr>
          <a:xfrm>
            <a:off x="8954079" y="5265024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3" name="Diagram line 8"/>
          <p:cNvSpPr/>
          <p:nvPr/>
        </p:nvSpPr>
        <p:spPr>
          <a:xfrm>
            <a:off x="9028420" y="515886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4" name="Diagram line 9"/>
          <p:cNvSpPr/>
          <p:nvPr/>
        </p:nvSpPr>
        <p:spPr>
          <a:xfrm>
            <a:off x="9102761" y="505279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5" name="Diagram line 10"/>
          <p:cNvSpPr/>
          <p:nvPr/>
        </p:nvSpPr>
        <p:spPr>
          <a:xfrm>
            <a:off x="9177101" y="4946630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6" name="Diagram line 11"/>
          <p:cNvSpPr/>
          <p:nvPr/>
        </p:nvSpPr>
        <p:spPr>
          <a:xfrm>
            <a:off x="9251351" y="4840468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7" name="Diagram line 12"/>
          <p:cNvSpPr/>
          <p:nvPr/>
        </p:nvSpPr>
        <p:spPr>
          <a:xfrm>
            <a:off x="9325691" y="4734306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8" name="Diagram line 13"/>
          <p:cNvSpPr/>
          <p:nvPr/>
        </p:nvSpPr>
        <p:spPr>
          <a:xfrm>
            <a:off x="9400032" y="4628236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19" name="Diagram line 14"/>
          <p:cNvSpPr/>
          <p:nvPr/>
        </p:nvSpPr>
        <p:spPr>
          <a:xfrm>
            <a:off x="9474373" y="4522074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0" name="Diagram line 15"/>
          <p:cNvSpPr/>
          <p:nvPr/>
        </p:nvSpPr>
        <p:spPr>
          <a:xfrm>
            <a:off x="9548622" y="441591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1" name="Diagram line 16"/>
          <p:cNvSpPr/>
          <p:nvPr/>
        </p:nvSpPr>
        <p:spPr>
          <a:xfrm>
            <a:off x="9622963" y="430984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2" name="Diagram line 17"/>
          <p:cNvSpPr/>
          <p:nvPr/>
        </p:nvSpPr>
        <p:spPr>
          <a:xfrm>
            <a:off x="9697303" y="4203680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3" name="Diagram line 18"/>
          <p:cNvSpPr/>
          <p:nvPr/>
        </p:nvSpPr>
        <p:spPr>
          <a:xfrm>
            <a:off x="9771644" y="4097518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4" name="Diagram line 19"/>
          <p:cNvSpPr/>
          <p:nvPr/>
        </p:nvSpPr>
        <p:spPr>
          <a:xfrm>
            <a:off x="9845893" y="3991356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5" name="Diagram line 20"/>
          <p:cNvSpPr/>
          <p:nvPr/>
        </p:nvSpPr>
        <p:spPr>
          <a:xfrm>
            <a:off x="9920234" y="3885286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6" name="Diagram line 21"/>
          <p:cNvSpPr/>
          <p:nvPr/>
        </p:nvSpPr>
        <p:spPr>
          <a:xfrm>
            <a:off x="9994575" y="3779124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7" name="Diagram line 22"/>
          <p:cNvSpPr/>
          <p:nvPr/>
        </p:nvSpPr>
        <p:spPr>
          <a:xfrm>
            <a:off x="10068916" y="367296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8" name="Diagram line 23"/>
          <p:cNvSpPr/>
          <p:nvPr/>
        </p:nvSpPr>
        <p:spPr>
          <a:xfrm>
            <a:off x="10143165" y="356689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29" name="Diagram line 24"/>
          <p:cNvSpPr/>
          <p:nvPr/>
        </p:nvSpPr>
        <p:spPr>
          <a:xfrm>
            <a:off x="10217506" y="3460730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0" name="Diagram line 25"/>
          <p:cNvSpPr/>
          <p:nvPr/>
        </p:nvSpPr>
        <p:spPr>
          <a:xfrm>
            <a:off x="10291846" y="3354568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1" name="Diagram line 26"/>
          <p:cNvSpPr/>
          <p:nvPr/>
        </p:nvSpPr>
        <p:spPr>
          <a:xfrm>
            <a:off x="10366187" y="3248497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2" name="Diagram line 27"/>
          <p:cNvSpPr/>
          <p:nvPr/>
        </p:nvSpPr>
        <p:spPr>
          <a:xfrm>
            <a:off x="10440436" y="3142336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3" name="Diagram line 28"/>
          <p:cNvSpPr/>
          <p:nvPr/>
        </p:nvSpPr>
        <p:spPr>
          <a:xfrm>
            <a:off x="10514777" y="3036174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4" name="Diagram line 29"/>
          <p:cNvSpPr/>
          <p:nvPr/>
        </p:nvSpPr>
        <p:spPr>
          <a:xfrm>
            <a:off x="10589118" y="293001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5" name="Diagram line 30"/>
          <p:cNvSpPr/>
          <p:nvPr/>
        </p:nvSpPr>
        <p:spPr>
          <a:xfrm>
            <a:off x="10663458" y="2823942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6" name="Diagram line 31"/>
          <p:cNvSpPr/>
          <p:nvPr/>
        </p:nvSpPr>
        <p:spPr>
          <a:xfrm>
            <a:off x="10737708" y="2717780"/>
            <a:ext cx="57699" cy="129388"/>
          </a:xfrm>
          <a:prstGeom prst="line">
            <a:avLst/>
          </a:prstGeom>
          <a:noFill/>
          <a:ln w="12192">
            <a:solidFill>
              <a:schemeClr val="tx1"/>
            </a:solidFill>
            <a:prstDash val="solid"/>
          </a:ln>
        </p:spPr>
      </p:sp>
      <p:sp>
        <p:nvSpPr>
          <p:cNvPr id="37" name="Diagram line 32"/>
          <p:cNvSpPr/>
          <p:nvPr/>
        </p:nvSpPr>
        <p:spPr>
          <a:xfrm flipV="1">
            <a:off x="8452439" y="2664744"/>
            <a:ext cx="2322393" cy="3316712"/>
          </a:xfrm>
          <a:prstGeom prst="line">
            <a:avLst/>
          </a:prstGeom>
          <a:noFill/>
          <a:ln w="28321">
            <a:solidFill>
              <a:schemeClr val="tx1"/>
            </a:solidFill>
            <a:prstDash val="solid"/>
          </a:ln>
        </p:spPr>
      </p:sp>
      <p:sp>
        <p:nvSpPr>
          <p:cNvPr id="38" name="Diagram ball 33"/>
          <p:cNvSpPr/>
          <p:nvPr/>
        </p:nvSpPr>
        <p:spPr>
          <a:xfrm>
            <a:off x="9379458" y="4122664"/>
            <a:ext cx="242956" cy="2429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Diagram arrow 34"/>
          <p:cNvSpPr/>
          <p:nvPr/>
        </p:nvSpPr>
        <p:spPr>
          <a:xfrm flipV="1">
            <a:off x="7619970" y="4323100"/>
            <a:ext cx="1993758" cy="351587"/>
          </a:xfrm>
          <a:prstGeom prst="line">
            <a:avLst/>
          </a:prstGeom>
          <a:noFill/>
          <a:ln w="28321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40" name="Diagram arrow 35"/>
          <p:cNvSpPr/>
          <p:nvPr/>
        </p:nvSpPr>
        <p:spPr>
          <a:xfrm flipV="1">
            <a:off x="9613727" y="2545872"/>
            <a:ext cx="124267" cy="1777228"/>
          </a:xfrm>
          <a:prstGeom prst="line">
            <a:avLst/>
          </a:prstGeom>
          <a:noFill/>
          <a:ln w="28321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41" name="Diagram arrow 36"/>
          <p:cNvSpPr/>
          <p:nvPr/>
        </p:nvSpPr>
        <p:spPr>
          <a:xfrm flipH="1" flipV="1">
            <a:off x="9653504" y="4350990"/>
            <a:ext cx="822594" cy="575981"/>
          </a:xfrm>
          <a:prstGeom prst="line">
            <a:avLst/>
          </a:prstGeom>
          <a:noFill/>
          <a:ln w="28321">
            <a:solidFill>
              <a:schemeClr val="accent3"/>
            </a:solidFill>
            <a:prstDash val="solid"/>
            <a:tailEnd type="triangle" w="lg" len="lg"/>
          </a:ln>
        </p:spPr>
      </p:sp>
      <p:sp>
        <p:nvSpPr>
          <p:cNvPr id="42" name="Diagram label 37"/>
          <p:cNvSpPr txBox="1"/>
          <p:nvPr/>
        </p:nvSpPr>
        <p:spPr>
          <a:xfrm>
            <a:off x="10450860" y="4831507"/>
            <a:ext cx="289225" cy="357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8" b="1" dirty="0">
                <a:solidFill>
                  <a:schemeClr val="accent3"/>
                </a:solidFill>
              </a:rPr>
              <a:t>I</a:t>
            </a:r>
            <a:endParaRPr lang="en-US" sz="2168" dirty="0"/>
          </a:p>
        </p:txBody>
      </p:sp>
      <p:sp>
        <p:nvSpPr>
          <p:cNvPr id="43" name="Diagram label 38"/>
          <p:cNvSpPr txBox="1"/>
          <p:nvPr/>
        </p:nvSpPr>
        <p:spPr>
          <a:xfrm>
            <a:off x="8155351" y="5596768"/>
            <a:ext cx="289225" cy="357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68" b="1" dirty="0">
                <a:solidFill>
                  <a:schemeClr val="tx2"/>
                </a:solidFill>
              </a:rPr>
              <a:t>w</a:t>
            </a:r>
            <a:endParaRPr lang="en-US" sz="2168" dirty="0"/>
          </a:p>
        </p:txBody>
      </p:sp>
      <p:sp>
        <p:nvSpPr>
          <p:cNvPr id="44" name="Diagram label 39"/>
          <p:cNvSpPr txBox="1"/>
          <p:nvPr/>
        </p:nvSpPr>
        <p:spPr>
          <a:xfrm>
            <a:off x="7254758" y="4474616"/>
            <a:ext cx="3093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23" b="1" dirty="0">
                <a:solidFill>
                  <a:schemeClr val="accent2"/>
                </a:solidFill>
              </a:rPr>
              <a:t>u</a:t>
            </a:r>
            <a:endParaRPr lang="en-US" sz="2423" dirty="0"/>
          </a:p>
        </p:txBody>
      </p:sp>
      <p:sp>
        <p:nvSpPr>
          <p:cNvPr id="45" name="Diagram label 40"/>
          <p:cNvSpPr txBox="1"/>
          <p:nvPr/>
        </p:nvSpPr>
        <p:spPr>
          <a:xfrm>
            <a:off x="9583278" y="2135307"/>
            <a:ext cx="30934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23" b="1" dirty="0">
                <a:solidFill>
                  <a:schemeClr val="accent4"/>
                </a:solidFill>
              </a:rPr>
              <a:t>v</a:t>
            </a:r>
            <a:endParaRPr lang="en-US" sz="2423" dirty="0"/>
          </a:p>
        </p:txBody>
      </p:sp>
      <p:sp>
        <p:nvSpPr>
          <p:cNvPr id="46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237104" y="220096"/>
            <a:ext cx="5587990" cy="550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Oblique impact with a smooth fixed wall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particle moving with velocity </a:t>
            </a:r>
            <a:r>
              <a:rPr lang="en-US" sz="1400" b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 strikes a smooth fixed wall and rebounds with velocity 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. The coefficient of restitution between the particle and the wall is e.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wall is smooth, so the impulse on the particle acts perpendicular to the wall.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component of the velocity parallel to the wall is unchanged.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component perpendicular to the wall is reversed in direction and multiplied by e.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Using vectors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Let 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be a vector parallel to the wall and 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a vector perpendicular to the wall.</a:t>
            </a:r>
            <a:endParaRPr lang="en-US" sz="1400" dirty="0"/>
          </a:p>
          <a:p>
            <a:pPr algn="ctr" indent="0" marL="0">
              <a:lnSpc>
                <a:spcPts val="2130"/>
              </a:lnSpc>
              <a:spcBef>
                <a:spcPts val="133"/>
              </a:spcBef>
              <a:spcAft>
                <a:spcPts val="933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tx1"/>
                </a:solidFill>
              </a:rPr>
              <a:t>w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b="1" dirty="0">
                <a:solidFill>
                  <a:schemeClr val="tx1"/>
                </a:solidFill>
              </a:rPr>
              <a:t>v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  <a:p>
            <a:pPr algn="ctr" indent="0" marL="0">
              <a:lnSpc>
                <a:spcPts val="2130"/>
              </a:lnSpc>
              <a:spcBef>
                <a:spcPts val="133"/>
              </a:spcBef>
              <a:spcAft>
                <a:spcPts val="933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−e</a:t>
            </a:r>
            <a:r>
              <a:rPr lang="en-US" sz="1600" b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tx1"/>
                </a:solidFill>
              </a:rPr>
              <a:t>I</a:t>
            </a:r>
            <a:r>
              <a:rPr lang="en-US" sz="1600" dirty="0">
                <a:solidFill>
                  <a:schemeClr val="tx1"/>
                </a:solidFill>
              </a:rPr>
              <a:t> = </a:t>
            </a:r>
            <a:r>
              <a:rPr lang="en-US" sz="1600" b="1" dirty="0">
                <a:solidFill>
                  <a:schemeClr val="tx1"/>
                </a:solidFill>
              </a:rPr>
              <a:t>v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r>
              <a:rPr lang="en-US" sz="1600" b="1" dirty="0">
                <a:solidFill>
                  <a:schemeClr val="tx1"/>
                </a:solidFill>
              </a:rPr>
              <a:t>I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These work for a wall in any direction. 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need not be unit vectors, and 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can point either way.</a:t>
            </a:r>
            <a:endParaRPr lang="en-US" sz="1400" dirty="0"/>
          </a:p>
        </p:txBody>
      </p:sp>
      <p:sp>
        <p:nvSpPr>
          <p:cNvPr id="3" name="Diagram line 1"/>
          <p:cNvSpPr/>
          <p:nvPr/>
        </p:nvSpPr>
        <p:spPr>
          <a:xfrm flipH="1">
            <a:off x="8163580" y="2196206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4" name="Diagram line 2"/>
          <p:cNvSpPr/>
          <p:nvPr/>
        </p:nvSpPr>
        <p:spPr>
          <a:xfrm flipH="1">
            <a:off x="8274497" y="2137227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5" name="Diagram line 3"/>
          <p:cNvSpPr/>
          <p:nvPr/>
        </p:nvSpPr>
        <p:spPr>
          <a:xfrm flipH="1">
            <a:off x="8385322" y="2078248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6" name="Diagram line 4"/>
          <p:cNvSpPr/>
          <p:nvPr/>
        </p:nvSpPr>
        <p:spPr>
          <a:xfrm flipH="1">
            <a:off x="8496239" y="2019361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7" name="Diagram line 5"/>
          <p:cNvSpPr/>
          <p:nvPr/>
        </p:nvSpPr>
        <p:spPr>
          <a:xfrm flipH="1">
            <a:off x="8607064" y="1960382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8" name="Diagram line 6"/>
          <p:cNvSpPr/>
          <p:nvPr/>
        </p:nvSpPr>
        <p:spPr>
          <a:xfrm flipH="1">
            <a:off x="8717981" y="1901403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9" name="Diagram line 7"/>
          <p:cNvSpPr/>
          <p:nvPr/>
        </p:nvSpPr>
        <p:spPr>
          <a:xfrm flipH="1">
            <a:off x="8828806" y="1842516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0" name="Diagram line 8"/>
          <p:cNvSpPr/>
          <p:nvPr/>
        </p:nvSpPr>
        <p:spPr>
          <a:xfrm flipH="1">
            <a:off x="8939723" y="1783537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1" name="Diagram line 9"/>
          <p:cNvSpPr/>
          <p:nvPr/>
        </p:nvSpPr>
        <p:spPr>
          <a:xfrm flipH="1">
            <a:off x="9050548" y="1724558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2" name="Diagram line 10"/>
          <p:cNvSpPr/>
          <p:nvPr/>
        </p:nvSpPr>
        <p:spPr>
          <a:xfrm flipH="1">
            <a:off x="9161374" y="1665671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3" name="Diagram line 11"/>
          <p:cNvSpPr/>
          <p:nvPr/>
        </p:nvSpPr>
        <p:spPr>
          <a:xfrm flipH="1">
            <a:off x="9272290" y="1606692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4" name="Diagram line 12"/>
          <p:cNvSpPr/>
          <p:nvPr/>
        </p:nvSpPr>
        <p:spPr>
          <a:xfrm flipH="1">
            <a:off x="9383116" y="1547713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5" name="Diagram line 13"/>
          <p:cNvSpPr/>
          <p:nvPr/>
        </p:nvSpPr>
        <p:spPr>
          <a:xfrm flipH="1">
            <a:off x="9494032" y="1488826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6" name="Diagram line 14"/>
          <p:cNvSpPr/>
          <p:nvPr/>
        </p:nvSpPr>
        <p:spPr>
          <a:xfrm flipH="1">
            <a:off x="9604858" y="1429847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7" name="Diagram line 15"/>
          <p:cNvSpPr/>
          <p:nvPr/>
        </p:nvSpPr>
        <p:spPr>
          <a:xfrm flipH="1">
            <a:off x="9715774" y="1370868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8" name="Diagram line 16"/>
          <p:cNvSpPr/>
          <p:nvPr/>
        </p:nvSpPr>
        <p:spPr>
          <a:xfrm flipH="1">
            <a:off x="9826600" y="1311981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19" name="Diagram line 17"/>
          <p:cNvSpPr/>
          <p:nvPr/>
        </p:nvSpPr>
        <p:spPr>
          <a:xfrm flipH="1">
            <a:off x="9937516" y="1253002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20" name="Diagram line 18"/>
          <p:cNvSpPr/>
          <p:nvPr/>
        </p:nvSpPr>
        <p:spPr>
          <a:xfrm flipH="1">
            <a:off x="10048342" y="1194024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21" name="Diagram line 19"/>
          <p:cNvSpPr/>
          <p:nvPr/>
        </p:nvSpPr>
        <p:spPr>
          <a:xfrm flipH="1">
            <a:off x="10159258" y="1135136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22" name="Diagram line 20"/>
          <p:cNvSpPr/>
          <p:nvPr/>
        </p:nvSpPr>
        <p:spPr>
          <a:xfrm flipH="1">
            <a:off x="10270084" y="1076157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23" name="Diagram line 21"/>
          <p:cNvSpPr/>
          <p:nvPr/>
        </p:nvSpPr>
        <p:spPr>
          <a:xfrm flipH="1">
            <a:off x="10381000" y="1017179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24" name="Diagram line 22"/>
          <p:cNvSpPr/>
          <p:nvPr/>
        </p:nvSpPr>
        <p:spPr>
          <a:xfrm flipH="1">
            <a:off x="10491826" y="958200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25" name="Diagram line 23"/>
          <p:cNvSpPr/>
          <p:nvPr/>
        </p:nvSpPr>
        <p:spPr>
          <a:xfrm flipH="1">
            <a:off x="10602742" y="899312"/>
            <a:ext cx="7132" cy="137069"/>
          </a:xfrm>
          <a:prstGeom prst="line">
            <a:avLst/>
          </a:pr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26" name="Diagram line 24"/>
          <p:cNvSpPr/>
          <p:nvPr/>
        </p:nvSpPr>
        <p:spPr>
          <a:xfrm flipV="1">
            <a:off x="8087594" y="858804"/>
            <a:ext cx="2598450" cy="1381658"/>
          </a:xfrm>
          <a:prstGeom prst="line">
            <a:avLst/>
          </a:prstGeom>
          <a:noFill/>
          <a:ln w="27432">
            <a:solidFill>
              <a:schemeClr val="tx1"/>
            </a:solidFill>
            <a:prstDash val="solid"/>
          </a:ln>
        </p:spPr>
      </p:sp>
      <p:sp>
        <p:nvSpPr>
          <p:cNvPr id="27" name="Diagram arrow 25"/>
          <p:cNvSpPr/>
          <p:nvPr/>
        </p:nvSpPr>
        <p:spPr>
          <a:xfrm>
            <a:off x="7777246" y="1215878"/>
            <a:ext cx="1522933" cy="379750"/>
          </a:xfrm>
          <a:prstGeom prst="line">
            <a:avLst/>
          </a:prstGeom>
          <a:noFill/>
          <a:ln w="27432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28" name="Diagram arrow 26"/>
          <p:cNvSpPr/>
          <p:nvPr/>
        </p:nvSpPr>
        <p:spPr>
          <a:xfrm flipV="1">
            <a:off x="9300180" y="513436"/>
            <a:ext cx="845546" cy="1082192"/>
          </a:xfrm>
          <a:prstGeom prst="line">
            <a:avLst/>
          </a:prstGeom>
          <a:noFill/>
          <a:ln w="27432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29" name="Diagram shape 27"/>
          <p:cNvSpPr/>
          <p:nvPr/>
        </p:nvSpPr>
        <p:spPr>
          <a:xfrm>
            <a:off x="8813627" y="1477945"/>
            <a:ext cx="56876" cy="346100"/>
          </a:xfrm>
          <a:custGeom>
            <a:avLst/>
            <a:gdLst/>
            <a:ahLst/>
            <a:cxnLst/>
            <a:rect l="l" t="t" r="r" b="b"/>
            <a:pathLst>
              <a:path w="56876" h="346100">
                <a:moveTo>
                  <a:pt x="14356" y="0"/>
                </a:moveTo>
                <a:lnTo>
                  <a:pt x="9510" y="21763"/>
                </a:lnTo>
                <a:lnTo>
                  <a:pt x="5578" y="43708"/>
                </a:lnTo>
                <a:lnTo>
                  <a:pt x="2743" y="65837"/>
                </a:lnTo>
                <a:lnTo>
                  <a:pt x="823" y="87965"/>
                </a:lnTo>
                <a:lnTo>
                  <a:pt x="0" y="110277"/>
                </a:lnTo>
                <a:lnTo>
                  <a:pt x="183" y="132588"/>
                </a:lnTo>
                <a:lnTo>
                  <a:pt x="1372" y="154808"/>
                </a:lnTo>
                <a:lnTo>
                  <a:pt x="3566" y="177028"/>
                </a:lnTo>
                <a:lnTo>
                  <a:pt x="6767" y="199065"/>
                </a:lnTo>
                <a:lnTo>
                  <a:pt x="11064" y="220919"/>
                </a:lnTo>
                <a:lnTo>
                  <a:pt x="16276" y="242590"/>
                </a:lnTo>
                <a:lnTo>
                  <a:pt x="22494" y="263987"/>
                </a:lnTo>
                <a:lnTo>
                  <a:pt x="29627" y="285110"/>
                </a:lnTo>
                <a:lnTo>
                  <a:pt x="37765" y="305867"/>
                </a:lnTo>
                <a:lnTo>
                  <a:pt x="46909" y="326258"/>
                </a:lnTo>
                <a:lnTo>
                  <a:pt x="56876" y="346100"/>
                </a:lnTo>
              </a:path>
            </a:pathLst>
          </a:custGeom>
          <a:noFill/>
          <a:ln w="15748">
            <a:solidFill>
              <a:schemeClr val="tx1"/>
            </a:solidFill>
            <a:prstDash val="solid"/>
          </a:ln>
        </p:spPr>
      </p:sp>
      <p:sp>
        <p:nvSpPr>
          <p:cNvPr id="30" name="Diagram label 28"/>
          <p:cNvSpPr txBox="1"/>
          <p:nvPr/>
        </p:nvSpPr>
        <p:spPr>
          <a:xfrm>
            <a:off x="8468990" y="1523573"/>
            <a:ext cx="254752" cy="285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30" dirty="0">
                <a:solidFill>
                  <a:schemeClr val="tx1"/>
                </a:solidFill>
              </a:rPr>
              <a:t>α</a:t>
            </a:r>
            <a:endParaRPr lang="en-US" sz="1730" dirty="0"/>
          </a:p>
        </p:txBody>
      </p:sp>
      <p:sp>
        <p:nvSpPr>
          <p:cNvPr id="31" name="Diagram shape 29"/>
          <p:cNvSpPr/>
          <p:nvPr/>
        </p:nvSpPr>
        <p:spPr>
          <a:xfrm>
            <a:off x="9657710" y="1137971"/>
            <a:ext cx="155265" cy="184983"/>
          </a:xfrm>
          <a:custGeom>
            <a:avLst/>
            <a:gdLst/>
            <a:ahLst/>
            <a:cxnLst/>
            <a:rect l="l" t="t" r="r" b="b"/>
            <a:pathLst>
              <a:path w="155265" h="184983">
                <a:moveTo>
                  <a:pt x="155265" y="184983"/>
                </a:moveTo>
                <a:lnTo>
                  <a:pt x="147950" y="171633"/>
                </a:lnTo>
                <a:lnTo>
                  <a:pt x="140269" y="158557"/>
                </a:lnTo>
                <a:lnTo>
                  <a:pt x="132222" y="145572"/>
                </a:lnTo>
                <a:lnTo>
                  <a:pt x="123901" y="132862"/>
                </a:lnTo>
                <a:lnTo>
                  <a:pt x="115214" y="120426"/>
                </a:lnTo>
                <a:lnTo>
                  <a:pt x="106253" y="108174"/>
                </a:lnTo>
                <a:lnTo>
                  <a:pt x="96926" y="96103"/>
                </a:lnTo>
                <a:lnTo>
                  <a:pt x="87325" y="84308"/>
                </a:lnTo>
                <a:lnTo>
                  <a:pt x="77450" y="72786"/>
                </a:lnTo>
                <a:lnTo>
                  <a:pt x="67208" y="61539"/>
                </a:lnTo>
                <a:lnTo>
                  <a:pt x="56693" y="50566"/>
                </a:lnTo>
                <a:lnTo>
                  <a:pt x="45903" y="39868"/>
                </a:lnTo>
                <a:lnTo>
                  <a:pt x="34839" y="29444"/>
                </a:lnTo>
                <a:lnTo>
                  <a:pt x="23500" y="19294"/>
                </a:lnTo>
                <a:lnTo>
                  <a:pt x="11887" y="9510"/>
                </a:lnTo>
                <a:lnTo>
                  <a:pt x="0" y="0"/>
                </a:lnTo>
              </a:path>
            </a:pathLst>
          </a:custGeom>
          <a:noFill/>
          <a:ln w="15748">
            <a:solidFill>
              <a:schemeClr val="tx1"/>
            </a:solidFill>
            <a:prstDash val="solid"/>
          </a:ln>
        </p:spPr>
      </p:sp>
      <p:sp>
        <p:nvSpPr>
          <p:cNvPr id="32" name="Diagram label 30"/>
          <p:cNvSpPr txBox="1"/>
          <p:nvPr/>
        </p:nvSpPr>
        <p:spPr>
          <a:xfrm>
            <a:off x="9817181" y="1019007"/>
            <a:ext cx="254752" cy="285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30" dirty="0">
                <a:solidFill>
                  <a:schemeClr val="tx1"/>
                </a:solidFill>
              </a:rPr>
              <a:t>β</a:t>
            </a:r>
            <a:endParaRPr lang="en-US" sz="1730" dirty="0"/>
          </a:p>
        </p:txBody>
      </p:sp>
      <p:sp>
        <p:nvSpPr>
          <p:cNvPr id="33" name="Diagram arrow 31"/>
          <p:cNvSpPr/>
          <p:nvPr/>
        </p:nvSpPr>
        <p:spPr>
          <a:xfrm flipV="1">
            <a:off x="9300180" y="1190366"/>
            <a:ext cx="762244" cy="405262"/>
          </a:xfrm>
          <a:prstGeom prst="line">
            <a:avLst/>
          </a:prstGeom>
          <a:noFill/>
          <a:ln w="27432">
            <a:solidFill>
              <a:schemeClr val="tx2"/>
            </a:solidFill>
            <a:prstDash val="solid"/>
            <a:tailEnd type="triangle" w="lg" len="lg"/>
          </a:ln>
        </p:spPr>
      </p:sp>
      <p:sp>
        <p:nvSpPr>
          <p:cNvPr id="34" name="Diagram label 32"/>
          <p:cNvSpPr txBox="1"/>
          <p:nvPr/>
        </p:nvSpPr>
        <p:spPr>
          <a:xfrm>
            <a:off x="10022921" y="1379098"/>
            <a:ext cx="264536" cy="30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4" b="1" dirty="0">
                <a:solidFill>
                  <a:schemeClr val="tx2"/>
                </a:solidFill>
              </a:rPr>
              <a:t>w</a:t>
            </a:r>
            <a:endParaRPr lang="en-US" sz="1854" dirty="0"/>
          </a:p>
        </p:txBody>
      </p:sp>
      <p:sp>
        <p:nvSpPr>
          <p:cNvPr id="35" name="Diagram arrow 33"/>
          <p:cNvSpPr/>
          <p:nvPr/>
        </p:nvSpPr>
        <p:spPr>
          <a:xfrm flipH="1" flipV="1">
            <a:off x="8931768" y="902696"/>
            <a:ext cx="368412" cy="692932"/>
          </a:xfrm>
          <a:prstGeom prst="line">
            <a:avLst/>
          </a:prstGeom>
          <a:noFill/>
          <a:ln w="27432">
            <a:solidFill>
              <a:schemeClr val="accent3"/>
            </a:solidFill>
            <a:prstDash val="solid"/>
            <a:tailEnd type="triangle" w="lg" len="lg"/>
          </a:ln>
        </p:spPr>
      </p:sp>
      <p:sp>
        <p:nvSpPr>
          <p:cNvPr id="36" name="Diagram label 34"/>
          <p:cNvSpPr txBox="1"/>
          <p:nvPr/>
        </p:nvSpPr>
        <p:spPr>
          <a:xfrm>
            <a:off x="8711032" y="583387"/>
            <a:ext cx="264536" cy="306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4" b="1" dirty="0">
                <a:solidFill>
                  <a:schemeClr val="accent3"/>
                </a:solidFill>
              </a:rPr>
              <a:t>I</a:t>
            </a:r>
            <a:endParaRPr lang="en-US" sz="1854" dirty="0"/>
          </a:p>
        </p:txBody>
      </p:sp>
      <p:sp>
        <p:nvSpPr>
          <p:cNvPr id="37" name="Diagram shape 35"/>
          <p:cNvSpPr/>
          <p:nvPr/>
        </p:nvSpPr>
        <p:spPr>
          <a:xfrm>
            <a:off x="9248607" y="1447038"/>
            <a:ext cx="148590" cy="97018"/>
          </a:xfrm>
          <a:custGeom>
            <a:avLst/>
            <a:gdLst/>
            <a:ahLst/>
            <a:cxnLst/>
            <a:rect l="l" t="t" r="r" b="b"/>
            <a:pathLst>
              <a:path w="148590" h="97018">
                <a:moveTo>
                  <a:pt x="148590" y="97018"/>
                </a:moveTo>
                <a:lnTo>
                  <a:pt x="97018" y="0"/>
                </a:lnTo>
                <a:lnTo>
                  <a:pt x="0" y="51572"/>
                </a:lnTo>
              </a:path>
            </a:pathLst>
          </a:custGeom>
          <a:noFill/>
          <a:ln w="11811">
            <a:solidFill>
              <a:schemeClr val="tx1"/>
            </a:solidFill>
            <a:prstDash val="solid"/>
          </a:ln>
        </p:spPr>
      </p:sp>
      <p:sp>
        <p:nvSpPr>
          <p:cNvPr id="38" name="Diagram label 36"/>
          <p:cNvSpPr txBox="1"/>
          <p:nvPr/>
        </p:nvSpPr>
        <p:spPr>
          <a:xfrm>
            <a:off x="7467448" y="1052657"/>
            <a:ext cx="274229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7" b="1" dirty="0">
                <a:solidFill>
                  <a:schemeClr val="accent2"/>
                </a:solidFill>
              </a:rPr>
              <a:t>u</a:t>
            </a:r>
            <a:endParaRPr lang="en-US" sz="1977" dirty="0"/>
          </a:p>
        </p:txBody>
      </p:sp>
      <p:sp>
        <p:nvSpPr>
          <p:cNvPr id="39" name="Diagram label 37"/>
          <p:cNvSpPr txBox="1"/>
          <p:nvPr/>
        </p:nvSpPr>
        <p:spPr>
          <a:xfrm>
            <a:off x="10008565" y="177485"/>
            <a:ext cx="274229" cy="3264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77" b="1" dirty="0">
                <a:solidFill>
                  <a:schemeClr val="accent4"/>
                </a:solidFill>
              </a:rPr>
              <a:t>v</a:t>
            </a:r>
            <a:endParaRPr lang="en-US" sz="1977" dirty="0"/>
          </a:p>
        </p:txBody>
      </p:sp>
      <p:sp>
        <p:nvSpPr>
          <p:cNvPr id="40" name="Show that"/>
          <p:cNvSpPr txBox="1"/>
          <p:nvPr/>
        </p:nvSpPr>
        <p:spPr>
          <a:xfrm>
            <a:off x="6231453" y="2514600"/>
            <a:ext cx="5757337" cy="35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67" dirty="0">
                <a:solidFill>
                  <a:schemeClr val="tx1"/>
                </a:solidFill>
              </a:rPr>
              <a:t>Show that </a:t>
            </a:r>
            <a:r>
              <a:rPr lang="en-US" sz="1867" b="1" dirty="0">
                <a:solidFill>
                  <a:schemeClr val="tx1"/>
                </a:solidFill>
              </a:rPr>
              <a:t>u</a:t>
            </a:r>
            <a:r>
              <a:rPr lang="en-US" sz="1867" dirty="0">
                <a:solidFill>
                  <a:schemeClr val="tx1"/>
                </a:solidFill>
              </a:rPr>
              <a:t>.</a:t>
            </a:r>
            <a:r>
              <a:rPr lang="en-US" sz="1867" b="1" dirty="0">
                <a:solidFill>
                  <a:schemeClr val="tx1"/>
                </a:solidFill>
              </a:rPr>
              <a:t>w</a:t>
            </a:r>
            <a:r>
              <a:rPr lang="en-US" sz="1867" dirty="0">
                <a:solidFill>
                  <a:schemeClr val="tx1"/>
                </a:solidFill>
              </a:rPr>
              <a:t> = </a:t>
            </a:r>
            <a:r>
              <a:rPr lang="en-US" sz="1867" b="1" dirty="0">
                <a:solidFill>
                  <a:schemeClr val="tx1"/>
                </a:solidFill>
              </a:rPr>
              <a:t>v</a:t>
            </a:r>
            <a:r>
              <a:rPr lang="en-US" sz="1867" dirty="0">
                <a:solidFill>
                  <a:schemeClr val="tx1"/>
                </a:solidFill>
              </a:rPr>
              <a:t>.</a:t>
            </a:r>
            <a:r>
              <a:rPr lang="en-US" sz="1867" b="1" dirty="0">
                <a:solidFill>
                  <a:schemeClr val="tx1"/>
                </a:solidFill>
              </a:rPr>
              <a:t>w</a:t>
            </a:r>
            <a:endParaRPr lang="en-US" sz="1867" dirty="0"/>
          </a:p>
        </p:txBody>
      </p:sp>
      <p:sp>
        <p:nvSpPr>
          <p:cNvPr id="41" name="Show button"/>
          <p:cNvSpPr/>
          <p:nvPr/>
        </p:nvSpPr>
        <p:spPr>
          <a:xfrm>
            <a:off x="6231453" y="2924800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42" name="Hide button"/>
          <p:cNvSpPr/>
          <p:nvPr/>
        </p:nvSpPr>
        <p:spPr>
          <a:xfrm>
            <a:off x="7196694" y="2924800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43" name="Solution text"/>
          <p:cNvSpPr txBox="1"/>
          <p:nvPr/>
        </p:nvSpPr>
        <p:spPr>
          <a:xfrm>
            <a:off x="6231453" y="3466673"/>
            <a:ext cx="5757337" cy="1673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Let 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 and </a:t>
            </a: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 make angles α and β with the wall.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No impulse along a smooth wall, so u cos α = v cos β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r>
              <a:rPr lang="en-US" sz="1467" dirty="0">
                <a:solidFill>
                  <a:schemeClr val="accent1"/>
                </a:solidFill>
              </a:rPr>
              <a:t> = |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||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r>
              <a:rPr lang="en-US" sz="1467" dirty="0">
                <a:solidFill>
                  <a:schemeClr val="accent1"/>
                </a:solidFill>
              </a:rPr>
              <a:t>| cos α = u cos α, since |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r>
              <a:rPr lang="en-US" sz="1467" dirty="0">
                <a:solidFill>
                  <a:schemeClr val="accent1"/>
                </a:solidFill>
              </a:rPr>
              <a:t>| = 1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r>
              <a:rPr lang="en-US" sz="1467" dirty="0">
                <a:solidFill>
                  <a:schemeClr val="accent1"/>
                </a:solidFill>
              </a:rPr>
              <a:t> = |</a:t>
            </a: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||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r>
              <a:rPr lang="en-US" sz="1467" dirty="0">
                <a:solidFill>
                  <a:schemeClr val="accent1"/>
                </a:solidFill>
              </a:rPr>
              <a:t>| cos β = v cos β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So 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r>
              <a:rPr lang="en-US" sz="1467" dirty="0">
                <a:solidFill>
                  <a:schemeClr val="accent1"/>
                </a:solidFill>
              </a:rPr>
              <a:t> = </a:t>
            </a: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b="1" dirty="0">
                <a:solidFill>
                  <a:schemeClr val="accent1"/>
                </a:solidFill>
              </a:rPr>
              <a:t>w</a:t>
            </a:r>
            <a:r>
              <a:rPr lang="en-US" sz="1467" dirty="0">
                <a:solidFill>
                  <a:schemeClr val="accent1"/>
                </a:solidFill>
              </a:rPr>
              <a:t> = |</a:t>
            </a:r>
            <a:r>
              <a:rPr lang="en-US" sz="1467" b="1" dirty="0">
                <a:solidFill>
                  <a:schemeClr val="accent1"/>
                </a:solidFill>
              </a:rPr>
              <a:t>w</a:t>
            </a:r>
            <a:r>
              <a:rPr lang="en-US" sz="1467" dirty="0">
                <a:solidFill>
                  <a:schemeClr val="accent1"/>
                </a:solidFill>
              </a:rPr>
              <a:t>|</a:t>
            </a:r>
            <a:r>
              <a:rPr lang="en-US" sz="1467" b="1" dirty="0">
                <a:solidFill>
                  <a:schemeClr val="accent1"/>
                </a:solidFill>
              </a:rPr>
              <a:t>ŵ</a:t>
            </a:r>
            <a:r>
              <a:rPr lang="en-US" sz="1467" dirty="0">
                <a:solidFill>
                  <a:schemeClr val="accent1"/>
                </a:solidFill>
              </a:rPr>
              <a:t>, so multiply both sides by |</a:t>
            </a:r>
            <a:r>
              <a:rPr lang="en-US" sz="1467" b="1" dirty="0">
                <a:solidFill>
                  <a:schemeClr val="accent1"/>
                </a:solidFill>
              </a:rPr>
              <a:t>w</a:t>
            </a:r>
            <a:r>
              <a:rPr lang="en-US" sz="1467" dirty="0">
                <a:solidFill>
                  <a:schemeClr val="accent1"/>
                </a:solidFill>
              </a:rPr>
              <a:t>|: 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w</a:t>
            </a:r>
            <a:r>
              <a:rPr lang="en-US" sz="1467" dirty="0">
                <a:solidFill>
                  <a:schemeClr val="accent1"/>
                </a:solidFill>
              </a:rPr>
              <a:t> = </a:t>
            </a: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w</a:t>
            </a:r>
            <a:endParaRPr lang="en-US" sz="1467" dirty="0"/>
          </a:p>
        </p:txBody>
      </p:sp>
      <p:sp>
        <p:nvSpPr>
          <p:cNvPr id="44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45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43" grpId="0"/>
      <p:bldP spid="4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body" hasCustomPrompt="1"/>
          </p:nvPr>
        </p:nvSpPr>
        <p:spPr>
          <a:xfrm>
            <a:off x="237104" y="220096"/>
            <a:ext cx="5587990" cy="5503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Solving problems with an inclined wall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Write down a vector 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parallel to the wall.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For 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, swap the components of 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and change one sign: 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= a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+ b</a:t>
            </a:r>
            <a:r>
              <a:rPr lang="en-US" sz="1400" b="1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 gives 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= b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− a</a:t>
            </a:r>
            <a:r>
              <a:rPr lang="en-US" sz="1400" b="1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. Check that 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= 0.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Let the velocity after the impact be 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 = p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+ q</a:t>
            </a:r>
            <a:r>
              <a:rPr lang="en-US" sz="1400" b="1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Use </a:t>
            </a:r>
            <a:r>
              <a:rPr lang="en-US" sz="1400" b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= 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and −e</a:t>
            </a:r>
            <a:r>
              <a:rPr lang="en-US" sz="1400" b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= 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to form two equations.</a:t>
            </a:r>
            <a:endParaRPr lang="en-US" sz="1400" dirty="0"/>
          </a:p>
          <a:p>
            <a:pPr algn="l" marL="220091" indent="-220091">
              <a:lnSpc>
                <a:spcPts val="1890"/>
              </a:lnSpc>
              <a:spcAft>
                <a:spcPts val="267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Solve the simultaneous equations.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Impulse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impulse on the particle is m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 − m</a:t>
            </a:r>
            <a:r>
              <a:rPr lang="en-US" sz="1400" b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. It acts perpendicular to the wall, so 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 − </a:t>
            </a:r>
            <a:r>
              <a:rPr lang="en-US" sz="1400" b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 is parallel to 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algn="ctr" indent="0" marL="0">
              <a:lnSpc>
                <a:spcPts val="2130"/>
              </a:lnSpc>
              <a:spcBef>
                <a:spcPts val="133"/>
              </a:spcBef>
              <a:spcAft>
                <a:spcPts val="933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Magnitude of the impulse = m|</a:t>
            </a:r>
            <a:r>
              <a:rPr lang="en-US" sz="1600" b="1" dirty="0">
                <a:solidFill>
                  <a:schemeClr val="tx1"/>
                </a:solidFill>
              </a:rPr>
              <a:t>v</a:t>
            </a:r>
            <a:r>
              <a:rPr lang="en-US" sz="1600" dirty="0">
                <a:solidFill>
                  <a:schemeClr val="tx1"/>
                </a:solidFill>
              </a:rPr>
              <a:t> − </a:t>
            </a:r>
            <a:r>
              <a:rPr lang="en-US" sz="1600" b="1" dirty="0">
                <a:solidFill>
                  <a:schemeClr val="tx1"/>
                </a:solidFill>
              </a:rPr>
              <a:t>u</a:t>
            </a:r>
            <a:r>
              <a:rPr lang="en-US" sz="1600" dirty="0">
                <a:solidFill>
                  <a:schemeClr val="tx1"/>
                </a:solidFill>
              </a:rPr>
              <a:t>|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Finding the direction of the wall</a:t>
            </a:r>
            <a:endParaRPr lang="en-US" sz="1400" dirty="0"/>
          </a:p>
          <a:p>
            <a:pPr algn="l" indent="0" marL="0">
              <a:lnSpc>
                <a:spcPts val="1890"/>
              </a:lnSpc>
              <a:spcAft>
                <a:spcPts val="933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When </a:t>
            </a:r>
            <a:r>
              <a:rPr lang="en-US" sz="1400" b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 and 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 are both known, let the wall be parallel to 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= a</a:t>
            </a:r>
            <a:r>
              <a:rPr lang="en-US" sz="1400" b="1" dirty="0">
                <a:solidFill>
                  <a:schemeClr val="tx1"/>
                </a:solidFill>
              </a:rPr>
              <a:t>i</a:t>
            </a:r>
            <a:r>
              <a:rPr lang="en-US" sz="1400" dirty="0">
                <a:solidFill>
                  <a:schemeClr val="tx1"/>
                </a:solidFill>
              </a:rPr>
              <a:t> + b</a:t>
            </a:r>
            <a:r>
              <a:rPr lang="en-US" sz="1400" b="1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 and use </a:t>
            </a:r>
            <a:r>
              <a:rPr lang="en-US" sz="1400" b="1" dirty="0">
                <a:solidFill>
                  <a:schemeClr val="tx1"/>
                </a:solidFill>
              </a:rPr>
              <a:t>u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= </a:t>
            </a:r>
            <a:r>
              <a:rPr lang="en-US" sz="1400" b="1" dirty="0">
                <a:solidFill>
                  <a:schemeClr val="tx1"/>
                </a:solidFill>
              </a:rPr>
              <a:t>v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r>
              <a:rPr lang="en-US" sz="1400" b="1" dirty="0">
                <a:solidFill>
                  <a:schemeClr val="tx1"/>
                </a:solidFill>
              </a:rPr>
              <a:t>w</a:t>
            </a:r>
            <a:r>
              <a:rPr lang="en-US" sz="1400" dirty="0">
                <a:solidFill>
                  <a:schemeClr val="tx1"/>
                </a:solidFill>
              </a:rPr>
              <a:t> to find the ratio a : b.</a:t>
            </a:r>
            <a:endParaRPr lang="en-US" sz="1400" dirty="0"/>
          </a:p>
        </p:txBody>
      </p:sp>
      <p:sp>
        <p:nvSpPr>
          <p:cNvPr id="3" name="Diagram line 1"/>
          <p:cNvSpPr/>
          <p:nvPr/>
        </p:nvSpPr>
        <p:spPr>
          <a:xfrm flipH="1">
            <a:off x="6337524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4" name="Diagram line 2"/>
          <p:cNvSpPr/>
          <p:nvPr/>
        </p:nvSpPr>
        <p:spPr>
          <a:xfrm flipH="1">
            <a:off x="6491691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5" name="Diagram line 3"/>
          <p:cNvSpPr/>
          <p:nvPr/>
        </p:nvSpPr>
        <p:spPr>
          <a:xfrm flipH="1">
            <a:off x="6645859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6" name="Diagram line 4"/>
          <p:cNvSpPr/>
          <p:nvPr/>
        </p:nvSpPr>
        <p:spPr>
          <a:xfrm flipH="1">
            <a:off x="6800118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7" name="Diagram line 5"/>
          <p:cNvSpPr/>
          <p:nvPr/>
        </p:nvSpPr>
        <p:spPr>
          <a:xfrm flipH="1">
            <a:off x="6954286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8" name="Diagram line 6"/>
          <p:cNvSpPr/>
          <p:nvPr/>
        </p:nvSpPr>
        <p:spPr>
          <a:xfrm flipH="1">
            <a:off x="7108546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9" name="Diagram line 7"/>
          <p:cNvSpPr/>
          <p:nvPr/>
        </p:nvSpPr>
        <p:spPr>
          <a:xfrm flipH="1">
            <a:off x="7262713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0" name="Diagram line 8"/>
          <p:cNvSpPr/>
          <p:nvPr/>
        </p:nvSpPr>
        <p:spPr>
          <a:xfrm flipH="1">
            <a:off x="7416973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1" name="Diagram line 9"/>
          <p:cNvSpPr/>
          <p:nvPr/>
        </p:nvSpPr>
        <p:spPr>
          <a:xfrm flipH="1">
            <a:off x="7571141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2" name="Diagram line 10"/>
          <p:cNvSpPr/>
          <p:nvPr/>
        </p:nvSpPr>
        <p:spPr>
          <a:xfrm flipH="1">
            <a:off x="7725400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3" name="Diagram line 11"/>
          <p:cNvSpPr/>
          <p:nvPr/>
        </p:nvSpPr>
        <p:spPr>
          <a:xfrm flipH="1">
            <a:off x="7879568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4" name="Diagram line 12"/>
          <p:cNvSpPr/>
          <p:nvPr/>
        </p:nvSpPr>
        <p:spPr>
          <a:xfrm flipH="1">
            <a:off x="8033736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5" name="Diagram line 13"/>
          <p:cNvSpPr/>
          <p:nvPr/>
        </p:nvSpPr>
        <p:spPr>
          <a:xfrm flipH="1">
            <a:off x="8187995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6" name="Diagram line 14"/>
          <p:cNvSpPr/>
          <p:nvPr/>
        </p:nvSpPr>
        <p:spPr>
          <a:xfrm flipH="1">
            <a:off x="8342163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7" name="Diagram line 15"/>
          <p:cNvSpPr/>
          <p:nvPr/>
        </p:nvSpPr>
        <p:spPr>
          <a:xfrm flipH="1">
            <a:off x="8496422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8" name="Diagram line 16"/>
          <p:cNvSpPr/>
          <p:nvPr/>
        </p:nvSpPr>
        <p:spPr>
          <a:xfrm flipH="1">
            <a:off x="8650590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19" name="Diagram line 17"/>
          <p:cNvSpPr/>
          <p:nvPr/>
        </p:nvSpPr>
        <p:spPr>
          <a:xfrm flipH="1">
            <a:off x="8804849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0" name="Diagram line 18"/>
          <p:cNvSpPr/>
          <p:nvPr/>
        </p:nvSpPr>
        <p:spPr>
          <a:xfrm flipH="1">
            <a:off x="8959017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1" name="Diagram line 19"/>
          <p:cNvSpPr/>
          <p:nvPr/>
        </p:nvSpPr>
        <p:spPr>
          <a:xfrm flipH="1">
            <a:off x="9113276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2" name="Diagram line 20"/>
          <p:cNvSpPr/>
          <p:nvPr/>
        </p:nvSpPr>
        <p:spPr>
          <a:xfrm flipH="1">
            <a:off x="9267444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3" name="Diagram line 21"/>
          <p:cNvSpPr/>
          <p:nvPr/>
        </p:nvSpPr>
        <p:spPr>
          <a:xfrm flipH="1">
            <a:off x="9421612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4" name="Diagram line 22"/>
          <p:cNvSpPr/>
          <p:nvPr/>
        </p:nvSpPr>
        <p:spPr>
          <a:xfrm flipH="1">
            <a:off x="9575871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5" name="Diagram line 23"/>
          <p:cNvSpPr/>
          <p:nvPr/>
        </p:nvSpPr>
        <p:spPr>
          <a:xfrm flipH="1">
            <a:off x="9730039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6" name="Diagram line 24"/>
          <p:cNvSpPr/>
          <p:nvPr/>
        </p:nvSpPr>
        <p:spPr>
          <a:xfrm flipH="1">
            <a:off x="9884298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7" name="Diagram line 25"/>
          <p:cNvSpPr/>
          <p:nvPr/>
        </p:nvSpPr>
        <p:spPr>
          <a:xfrm flipH="1">
            <a:off x="10038466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8" name="Diagram line 26"/>
          <p:cNvSpPr/>
          <p:nvPr/>
        </p:nvSpPr>
        <p:spPr>
          <a:xfrm flipH="1">
            <a:off x="10192725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29" name="Diagram line 27"/>
          <p:cNvSpPr/>
          <p:nvPr/>
        </p:nvSpPr>
        <p:spPr>
          <a:xfrm flipH="1">
            <a:off x="10346893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0" name="Diagram line 28"/>
          <p:cNvSpPr/>
          <p:nvPr/>
        </p:nvSpPr>
        <p:spPr>
          <a:xfrm flipH="1">
            <a:off x="10501152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1" name="Diagram line 29"/>
          <p:cNvSpPr/>
          <p:nvPr/>
        </p:nvSpPr>
        <p:spPr>
          <a:xfrm flipH="1">
            <a:off x="10655320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2" name="Diagram line 30"/>
          <p:cNvSpPr/>
          <p:nvPr/>
        </p:nvSpPr>
        <p:spPr>
          <a:xfrm flipH="1">
            <a:off x="10809488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3" name="Diagram line 31"/>
          <p:cNvSpPr/>
          <p:nvPr/>
        </p:nvSpPr>
        <p:spPr>
          <a:xfrm flipH="1">
            <a:off x="10963747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4" name="Diagram line 32"/>
          <p:cNvSpPr/>
          <p:nvPr/>
        </p:nvSpPr>
        <p:spPr>
          <a:xfrm flipH="1">
            <a:off x="11117915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5" name="Diagram line 33"/>
          <p:cNvSpPr/>
          <p:nvPr/>
        </p:nvSpPr>
        <p:spPr>
          <a:xfrm flipH="1">
            <a:off x="11272175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6" name="Diagram line 34"/>
          <p:cNvSpPr/>
          <p:nvPr/>
        </p:nvSpPr>
        <p:spPr>
          <a:xfrm flipH="1">
            <a:off x="11426342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7" name="Diagram line 35"/>
          <p:cNvSpPr/>
          <p:nvPr/>
        </p:nvSpPr>
        <p:spPr>
          <a:xfrm flipH="1">
            <a:off x="11580602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8" name="Diagram line 36"/>
          <p:cNvSpPr/>
          <p:nvPr/>
        </p:nvSpPr>
        <p:spPr>
          <a:xfrm flipH="1">
            <a:off x="11734770" y="1986717"/>
            <a:ext cx="86777" cy="144567"/>
          </a:xfrm>
          <a:prstGeom prst="line">
            <a:avLst/>
          </a:prstGeom>
          <a:noFill/>
          <a:ln w="14478">
            <a:solidFill>
              <a:schemeClr val="tx1"/>
            </a:solidFill>
            <a:prstDash val="solid"/>
          </a:ln>
        </p:spPr>
      </p:sp>
      <p:sp>
        <p:nvSpPr>
          <p:cNvPr id="39" name="Diagram line 37"/>
          <p:cNvSpPr/>
          <p:nvPr/>
        </p:nvSpPr>
        <p:spPr>
          <a:xfrm>
            <a:off x="6308537" y="1986717"/>
            <a:ext cx="5590093" cy="0"/>
          </a:xfrm>
          <a:prstGeom prst="line">
            <a:avLst/>
          </a:prstGeom>
          <a:noFill/>
          <a:ln w="33782">
            <a:solidFill>
              <a:schemeClr val="tx1"/>
            </a:solidFill>
            <a:prstDash val="solid"/>
          </a:ln>
        </p:spPr>
      </p:sp>
      <p:sp>
        <p:nvSpPr>
          <p:cNvPr id="40" name="Diagram arrow 38"/>
          <p:cNvSpPr/>
          <p:nvPr/>
        </p:nvSpPr>
        <p:spPr>
          <a:xfrm>
            <a:off x="7405451" y="561807"/>
            <a:ext cx="0" cy="1424910"/>
          </a:xfrm>
          <a:prstGeom prst="line">
            <a:avLst/>
          </a:prstGeom>
          <a:noFill/>
          <a:ln w="24130">
            <a:solidFill>
              <a:schemeClr val="accent2"/>
            </a:solidFill>
            <a:prstDash val="dash"/>
            <a:tailEnd type="triangle" w="lg" len="lg"/>
          </a:ln>
        </p:spPr>
      </p:sp>
      <p:sp>
        <p:nvSpPr>
          <p:cNvPr id="41" name="Diagram label 39"/>
          <p:cNvSpPr txBox="1"/>
          <p:nvPr/>
        </p:nvSpPr>
        <p:spPr>
          <a:xfrm>
            <a:off x="6186648" y="1123889"/>
            <a:ext cx="1122426" cy="30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21" dirty="0">
                <a:solidFill>
                  <a:schemeClr val="accent2"/>
                </a:solidFill>
              </a:rPr>
              <a:t>u sin α</a:t>
            </a:r>
            <a:endParaRPr lang="en-US" sz="1821" dirty="0"/>
          </a:p>
        </p:txBody>
      </p:sp>
      <p:sp>
        <p:nvSpPr>
          <p:cNvPr id="42" name="Diagram arrow 40"/>
          <p:cNvSpPr/>
          <p:nvPr/>
        </p:nvSpPr>
        <p:spPr>
          <a:xfrm flipV="1">
            <a:off x="10908609" y="1183051"/>
            <a:ext cx="0" cy="803666"/>
          </a:xfrm>
          <a:prstGeom prst="line">
            <a:avLst/>
          </a:prstGeom>
          <a:noFill/>
          <a:ln w="24130">
            <a:solidFill>
              <a:schemeClr val="accent4"/>
            </a:solidFill>
            <a:prstDash val="dash"/>
            <a:tailEnd type="triangle" w="lg" len="lg"/>
          </a:ln>
        </p:spPr>
      </p:sp>
      <p:sp>
        <p:nvSpPr>
          <p:cNvPr id="43" name="Diagram label 41"/>
          <p:cNvSpPr txBox="1"/>
          <p:nvPr/>
        </p:nvSpPr>
        <p:spPr>
          <a:xfrm>
            <a:off x="11004987" y="1434511"/>
            <a:ext cx="1122426" cy="300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21" dirty="0">
                <a:solidFill>
                  <a:schemeClr val="accent4"/>
                </a:solidFill>
              </a:rPr>
              <a:t>v sin β</a:t>
            </a:r>
            <a:endParaRPr lang="en-US" sz="1821" dirty="0"/>
          </a:p>
        </p:txBody>
      </p:sp>
      <p:sp>
        <p:nvSpPr>
          <p:cNvPr id="44" name="Diagram arrow 42"/>
          <p:cNvSpPr/>
          <p:nvPr/>
        </p:nvSpPr>
        <p:spPr>
          <a:xfrm>
            <a:off x="7405451" y="561807"/>
            <a:ext cx="1698132" cy="1424910"/>
          </a:xfrm>
          <a:prstGeom prst="line">
            <a:avLst/>
          </a:prstGeom>
          <a:noFill/>
          <a:ln w="33782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45" name="Diagram arrow 43"/>
          <p:cNvSpPr/>
          <p:nvPr/>
        </p:nvSpPr>
        <p:spPr>
          <a:xfrm flipV="1">
            <a:off x="9103584" y="1183051"/>
            <a:ext cx="1804934" cy="803666"/>
          </a:xfrm>
          <a:prstGeom prst="line">
            <a:avLst/>
          </a:prstGeom>
          <a:noFill/>
          <a:ln w="33782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46" name="Diagram shape 44"/>
          <p:cNvSpPr/>
          <p:nvPr/>
        </p:nvSpPr>
        <p:spPr>
          <a:xfrm>
            <a:off x="8506023" y="1602577"/>
            <a:ext cx="139812" cy="384139"/>
          </a:xfrm>
          <a:custGeom>
            <a:avLst/>
            <a:gdLst/>
            <a:ahLst/>
            <a:cxnLst/>
            <a:rect l="l" t="t" r="r" b="b"/>
            <a:pathLst>
              <a:path w="139812" h="384139">
                <a:moveTo>
                  <a:pt x="139812" y="0"/>
                </a:moveTo>
                <a:lnTo>
                  <a:pt x="123444" y="20300"/>
                </a:lnTo>
                <a:lnTo>
                  <a:pt x="108082" y="41331"/>
                </a:lnTo>
                <a:lnTo>
                  <a:pt x="93543" y="63002"/>
                </a:lnTo>
                <a:lnTo>
                  <a:pt x="80101" y="85314"/>
                </a:lnTo>
                <a:lnTo>
                  <a:pt x="67483" y="108174"/>
                </a:lnTo>
                <a:lnTo>
                  <a:pt x="55961" y="131582"/>
                </a:lnTo>
                <a:lnTo>
                  <a:pt x="45446" y="155448"/>
                </a:lnTo>
                <a:lnTo>
                  <a:pt x="36027" y="179771"/>
                </a:lnTo>
                <a:lnTo>
                  <a:pt x="27615" y="204368"/>
                </a:lnTo>
                <a:lnTo>
                  <a:pt x="20391" y="229423"/>
                </a:lnTo>
                <a:lnTo>
                  <a:pt x="14173" y="254752"/>
                </a:lnTo>
                <a:lnTo>
                  <a:pt x="9053" y="280355"/>
                </a:lnTo>
                <a:lnTo>
                  <a:pt x="5121" y="306141"/>
                </a:lnTo>
                <a:lnTo>
                  <a:pt x="2286" y="332019"/>
                </a:lnTo>
                <a:lnTo>
                  <a:pt x="549" y="358079"/>
                </a:lnTo>
                <a:lnTo>
                  <a:pt x="0" y="384139"/>
                </a:lnTo>
              </a:path>
            </a:pathLst>
          </a:custGeom>
          <a:noFill/>
          <a:ln w="19304">
            <a:solidFill>
              <a:schemeClr val="tx1"/>
            </a:solidFill>
            <a:prstDash val="solid"/>
          </a:ln>
        </p:spPr>
      </p:sp>
      <p:sp>
        <p:nvSpPr>
          <p:cNvPr id="47" name="Diagram label 45"/>
          <p:cNvSpPr txBox="1"/>
          <p:nvPr/>
        </p:nvSpPr>
        <p:spPr>
          <a:xfrm>
            <a:off x="8147578" y="1567373"/>
            <a:ext cx="285841" cy="350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125" dirty="0">
                <a:solidFill>
                  <a:schemeClr val="tx1"/>
                </a:solidFill>
              </a:rPr>
              <a:t>α</a:t>
            </a:r>
            <a:endParaRPr lang="en-US" sz="2125" dirty="0"/>
          </a:p>
        </p:txBody>
      </p:sp>
      <p:sp>
        <p:nvSpPr>
          <p:cNvPr id="48" name="Diagram shape 46"/>
          <p:cNvSpPr/>
          <p:nvPr/>
        </p:nvSpPr>
        <p:spPr>
          <a:xfrm>
            <a:off x="9755185" y="1696578"/>
            <a:ext cx="61631" cy="290048"/>
          </a:xfrm>
          <a:custGeom>
            <a:avLst/>
            <a:gdLst/>
            <a:ahLst/>
            <a:cxnLst/>
            <a:rect l="l" t="t" r="r" b="b"/>
            <a:pathLst>
              <a:path w="61631" h="290048">
                <a:moveTo>
                  <a:pt x="61631" y="290048"/>
                </a:moveTo>
                <a:lnTo>
                  <a:pt x="61448" y="271394"/>
                </a:lnTo>
                <a:lnTo>
                  <a:pt x="60716" y="252740"/>
                </a:lnTo>
                <a:lnTo>
                  <a:pt x="59436" y="234086"/>
                </a:lnTo>
                <a:lnTo>
                  <a:pt x="57790" y="215524"/>
                </a:lnTo>
                <a:lnTo>
                  <a:pt x="55596" y="196962"/>
                </a:lnTo>
                <a:lnTo>
                  <a:pt x="52852" y="178491"/>
                </a:lnTo>
                <a:lnTo>
                  <a:pt x="49743" y="160111"/>
                </a:lnTo>
                <a:lnTo>
                  <a:pt x="46086" y="141823"/>
                </a:lnTo>
                <a:lnTo>
                  <a:pt x="41971" y="123627"/>
                </a:lnTo>
                <a:lnTo>
                  <a:pt x="37399" y="105522"/>
                </a:lnTo>
                <a:lnTo>
                  <a:pt x="32278" y="87508"/>
                </a:lnTo>
                <a:lnTo>
                  <a:pt x="26792" y="69677"/>
                </a:lnTo>
                <a:lnTo>
                  <a:pt x="20757" y="52029"/>
                </a:lnTo>
                <a:lnTo>
                  <a:pt x="14265" y="34473"/>
                </a:lnTo>
                <a:lnTo>
                  <a:pt x="7407" y="17191"/>
                </a:lnTo>
                <a:lnTo>
                  <a:pt x="0" y="0"/>
                </a:lnTo>
              </a:path>
            </a:pathLst>
          </a:custGeom>
          <a:noFill/>
          <a:ln w="19304">
            <a:solidFill>
              <a:schemeClr val="tx1"/>
            </a:solidFill>
            <a:prstDash val="solid"/>
          </a:ln>
        </p:spPr>
      </p:sp>
      <p:sp>
        <p:nvSpPr>
          <p:cNvPr id="49" name="Diagram label 47"/>
          <p:cNvSpPr txBox="1"/>
          <p:nvPr/>
        </p:nvSpPr>
        <p:spPr>
          <a:xfrm>
            <a:off x="9914382" y="1638971"/>
            <a:ext cx="285841" cy="350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25" dirty="0">
                <a:solidFill>
                  <a:schemeClr val="tx1"/>
                </a:solidFill>
              </a:rPr>
              <a:t>β</a:t>
            </a:r>
            <a:endParaRPr lang="en-US" sz="2125" dirty="0"/>
          </a:p>
        </p:txBody>
      </p:sp>
      <p:sp>
        <p:nvSpPr>
          <p:cNvPr id="50" name="Diagram label 48"/>
          <p:cNvSpPr txBox="1"/>
          <p:nvPr/>
        </p:nvSpPr>
        <p:spPr>
          <a:xfrm>
            <a:off x="7063831" y="373807"/>
            <a:ext cx="297820" cy="375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77" b="1" dirty="0">
                <a:solidFill>
                  <a:schemeClr val="accent2"/>
                </a:solidFill>
              </a:rPr>
              <a:t>u</a:t>
            </a:r>
            <a:endParaRPr lang="en-US" sz="2277" dirty="0"/>
          </a:p>
        </p:txBody>
      </p:sp>
      <p:sp>
        <p:nvSpPr>
          <p:cNvPr id="51" name="Diagram label 49"/>
          <p:cNvSpPr txBox="1"/>
          <p:nvPr/>
        </p:nvSpPr>
        <p:spPr>
          <a:xfrm>
            <a:off x="10759653" y="802386"/>
            <a:ext cx="297820" cy="375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77" b="1" dirty="0">
                <a:solidFill>
                  <a:schemeClr val="accent4"/>
                </a:solidFill>
              </a:rPr>
              <a:t>v</a:t>
            </a:r>
            <a:endParaRPr lang="en-US" sz="2277" dirty="0"/>
          </a:p>
        </p:txBody>
      </p:sp>
      <p:sp>
        <p:nvSpPr>
          <p:cNvPr id="52" name="Show that"/>
          <p:cNvSpPr txBox="1"/>
          <p:nvPr/>
        </p:nvSpPr>
        <p:spPr>
          <a:xfrm>
            <a:off x="6231453" y="2514600"/>
            <a:ext cx="5757337" cy="35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67" dirty="0">
                <a:solidFill>
                  <a:schemeClr val="tx1"/>
                </a:solidFill>
              </a:rPr>
              <a:t>Show that −e</a:t>
            </a:r>
            <a:r>
              <a:rPr lang="en-US" sz="1867" b="1" dirty="0">
                <a:solidFill>
                  <a:schemeClr val="tx1"/>
                </a:solidFill>
              </a:rPr>
              <a:t>u</a:t>
            </a:r>
            <a:r>
              <a:rPr lang="en-US" sz="1867" dirty="0">
                <a:solidFill>
                  <a:schemeClr val="tx1"/>
                </a:solidFill>
              </a:rPr>
              <a:t>.</a:t>
            </a:r>
            <a:r>
              <a:rPr lang="en-US" sz="1867" b="1" dirty="0">
                <a:solidFill>
                  <a:schemeClr val="tx1"/>
                </a:solidFill>
              </a:rPr>
              <a:t>I</a:t>
            </a:r>
            <a:r>
              <a:rPr lang="en-US" sz="1867" dirty="0">
                <a:solidFill>
                  <a:schemeClr val="tx1"/>
                </a:solidFill>
              </a:rPr>
              <a:t> = </a:t>
            </a:r>
            <a:r>
              <a:rPr lang="en-US" sz="1867" b="1" dirty="0">
                <a:solidFill>
                  <a:schemeClr val="tx1"/>
                </a:solidFill>
              </a:rPr>
              <a:t>v</a:t>
            </a:r>
            <a:r>
              <a:rPr lang="en-US" sz="1867" dirty="0">
                <a:solidFill>
                  <a:schemeClr val="tx1"/>
                </a:solidFill>
              </a:rPr>
              <a:t>.</a:t>
            </a:r>
            <a:r>
              <a:rPr lang="en-US" sz="1867" b="1" dirty="0">
                <a:solidFill>
                  <a:schemeClr val="tx1"/>
                </a:solidFill>
              </a:rPr>
              <a:t>I</a:t>
            </a:r>
            <a:endParaRPr lang="en-US" sz="1867" dirty="0"/>
          </a:p>
        </p:txBody>
      </p:sp>
      <p:sp>
        <p:nvSpPr>
          <p:cNvPr id="53" name="Show button"/>
          <p:cNvSpPr/>
          <p:nvPr/>
        </p:nvSpPr>
        <p:spPr>
          <a:xfrm>
            <a:off x="6231453" y="2924800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4" name="Hide button"/>
          <p:cNvSpPr/>
          <p:nvPr/>
        </p:nvSpPr>
        <p:spPr>
          <a:xfrm>
            <a:off x="7196694" y="2924800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55" name="Solution text"/>
          <p:cNvSpPr txBox="1"/>
          <p:nvPr/>
        </p:nvSpPr>
        <p:spPr>
          <a:xfrm>
            <a:off x="6231453" y="3466673"/>
            <a:ext cx="5757337" cy="194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Newton’s law of restitution: v sin β = eu sin α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The angle between 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 and 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r>
              <a:rPr lang="en-US" sz="1467" dirty="0">
                <a:solidFill>
                  <a:schemeClr val="accent1"/>
                </a:solidFill>
              </a:rPr>
              <a:t> is 90° + α, so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r>
              <a:rPr lang="en-US" sz="1467" dirty="0">
                <a:solidFill>
                  <a:schemeClr val="accent1"/>
                </a:solidFill>
              </a:rPr>
              <a:t> = u cos(90° + α) = −u sin α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The angle between </a:t>
            </a: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 and 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r>
              <a:rPr lang="en-US" sz="1467" dirty="0">
                <a:solidFill>
                  <a:schemeClr val="accent1"/>
                </a:solidFill>
              </a:rPr>
              <a:t> is 90° − β, so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r>
              <a:rPr lang="en-US" sz="1467" dirty="0">
                <a:solidFill>
                  <a:schemeClr val="accent1"/>
                </a:solidFill>
              </a:rPr>
              <a:t> = v cos(90° − β) = v sin β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dirty="0">
                <a:solidFill>
                  <a:schemeClr val="accent1"/>
                </a:solidFill>
              </a:rPr>
              <a:t>Substitute: </a:t>
            </a: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r>
              <a:rPr lang="en-US" sz="1467" dirty="0">
                <a:solidFill>
                  <a:schemeClr val="accent1"/>
                </a:solidFill>
              </a:rPr>
              <a:t> = e(−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r>
              <a:rPr lang="en-US" sz="1467" dirty="0">
                <a:solidFill>
                  <a:schemeClr val="accent1"/>
                </a:solidFill>
              </a:rPr>
              <a:t>) = −e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endParaRPr lang="en-US" sz="1467" dirty="0"/>
          </a:p>
          <a:p>
            <a:pPr algn="l" indent="0" marL="0">
              <a:lnSpc>
                <a:spcPts val="2130"/>
              </a:lnSpc>
              <a:buNone/>
            </a:pPr>
            <a:r>
              <a:rPr lang="en-US" sz="1467" b="1" dirty="0">
                <a:solidFill>
                  <a:schemeClr val="accent1"/>
                </a:solidFill>
              </a:rPr>
              <a:t>I</a:t>
            </a:r>
            <a:r>
              <a:rPr lang="en-US" sz="1467" dirty="0">
                <a:solidFill>
                  <a:schemeClr val="accent1"/>
                </a:solidFill>
              </a:rPr>
              <a:t> = |</a:t>
            </a:r>
            <a:r>
              <a:rPr lang="en-US" sz="1467" b="1" dirty="0">
                <a:solidFill>
                  <a:schemeClr val="accent1"/>
                </a:solidFill>
              </a:rPr>
              <a:t>I</a:t>
            </a:r>
            <a:r>
              <a:rPr lang="en-US" sz="1467" dirty="0">
                <a:solidFill>
                  <a:schemeClr val="accent1"/>
                </a:solidFill>
              </a:rPr>
              <a:t>|</a:t>
            </a:r>
            <a:r>
              <a:rPr lang="en-US" sz="1467" b="1" dirty="0">
                <a:solidFill>
                  <a:schemeClr val="accent1"/>
                </a:solidFill>
              </a:rPr>
              <a:t>Î</a:t>
            </a:r>
            <a:r>
              <a:rPr lang="en-US" sz="1467" dirty="0">
                <a:solidFill>
                  <a:schemeClr val="accent1"/>
                </a:solidFill>
              </a:rPr>
              <a:t>, so multiply both sides by |</a:t>
            </a:r>
            <a:r>
              <a:rPr lang="en-US" sz="1467" b="1" dirty="0">
                <a:solidFill>
                  <a:schemeClr val="accent1"/>
                </a:solidFill>
              </a:rPr>
              <a:t>I</a:t>
            </a:r>
            <a:r>
              <a:rPr lang="en-US" sz="1467" dirty="0">
                <a:solidFill>
                  <a:schemeClr val="accent1"/>
                </a:solidFill>
              </a:rPr>
              <a:t>|: −e</a:t>
            </a:r>
            <a:r>
              <a:rPr lang="en-US" sz="1467" b="1" dirty="0">
                <a:solidFill>
                  <a:schemeClr val="accent1"/>
                </a:solidFill>
              </a:rPr>
              <a:t>u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I</a:t>
            </a:r>
            <a:r>
              <a:rPr lang="en-US" sz="1467" dirty="0">
                <a:solidFill>
                  <a:schemeClr val="accent1"/>
                </a:solidFill>
              </a:rPr>
              <a:t> = </a:t>
            </a:r>
            <a:r>
              <a:rPr lang="en-US" sz="1467" b="1" dirty="0">
                <a:solidFill>
                  <a:schemeClr val="accent1"/>
                </a:solidFill>
              </a:rPr>
              <a:t>v</a:t>
            </a:r>
            <a:r>
              <a:rPr lang="en-US" sz="1467" dirty="0">
                <a:solidFill>
                  <a:schemeClr val="accent1"/>
                </a:solidFill>
              </a:rPr>
              <a:t>.</a:t>
            </a:r>
            <a:r>
              <a:rPr lang="en-US" sz="1467" b="1" dirty="0">
                <a:solidFill>
                  <a:schemeClr val="accent1"/>
                </a:solidFill>
              </a:rPr>
              <a:t>I</a:t>
            </a:r>
            <a:endParaRPr lang="en-US" sz="1467" dirty="0"/>
          </a:p>
        </p:txBody>
      </p:sp>
      <p:sp>
        <p:nvSpPr>
          <p:cNvPr id="56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57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5" grpId="0"/>
      <p:bldP spid="5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1. Figure 1 represents the plan view of part of a smooth horizontal floor, where AB is a fixed smooth vertical wall. The direction of AB is parallel to (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+ 2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 small ball of mass 0.25 kg is moving on the floor when it strikes the wall. Immediately before the impact, the velocity of the ball is (9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+ 3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 m s</a:t>
            </a:r>
            <a:r>
              <a:rPr lang="en-US" sz="1667" baseline="30000" dirty="0">
                <a:solidFill>
                  <a:schemeClr val="tx2"/>
                </a:solidFill>
              </a:rPr>
              <a:t>−1</a:t>
            </a:r>
            <a:r>
              <a:rPr lang="en-US" sz="1667" dirty="0">
                <a:solidFill>
                  <a:schemeClr val="tx2"/>
                </a:solidFill>
              </a:rPr>
              <a:t>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coefficient of restitution between the ball and the wall is </a:t>
            </a:r>
            <a:r>
              <a:rPr lang="en-US" sz="1667" baseline="30000" dirty="0">
                <a:solidFill>
                  <a:schemeClr val="tx2"/>
                </a:solidFill>
              </a:rPr>
              <a:t>1</a:t>
            </a:r>
            <a:r>
              <a:rPr lang="en-US" sz="1667" dirty="0">
                <a:solidFill>
                  <a:schemeClr val="tx2"/>
                </a:solidFill>
              </a:rPr>
              <a:t>⁄</a:t>
            </a:r>
            <a:r>
              <a:rPr lang="en-US" sz="1667" baseline="-8000" dirty="0">
                <a:solidFill>
                  <a:schemeClr val="tx2"/>
                </a:solidFill>
              </a:rPr>
              <a:t>3</a:t>
            </a:r>
            <a:r>
              <a:rPr lang="en-US" sz="1667" dirty="0">
                <a:solidFill>
                  <a:schemeClr val="tx2"/>
                </a:solidFill>
              </a:rPr>
              <a:t>.</a:t>
            </a:r>
            <a:endParaRPr lang="en-US" sz="1667" dirty="0"/>
          </a:p>
        </p:txBody>
      </p:sp>
      <p:sp>
        <p:nvSpPr>
          <p:cNvPr id="3" name="Find"/>
          <p:cNvSpPr/>
          <p:nvPr/>
        </p:nvSpPr>
        <p:spPr>
          <a:xfrm>
            <a:off x="237104" y="2844516"/>
            <a:ext cx="5418643" cy="1803380"/>
          </a:xfrm>
          <a:prstGeom prst="roundRect">
            <a:avLst>
              <a:gd name="adj" fmla="val 3757"/>
            </a:avLst>
          </a:prstGeom>
          <a:solidFill>
            <a:schemeClr val="bg2"/>
          </a:solidFill>
          <a:ln/>
        </p:spPr>
        <p:txBody>
          <a:bodyPr wrap="square" lIns="135509" tIns="118491" rIns="135509" bIns="118491" rtlCol="0" anchor="t"/>
          <a:lstStyle/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By modelling the ball as a particle,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a) show that the velocity of the ball immediately after the impact is (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+ 7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 m s</a:t>
            </a:r>
            <a:r>
              <a:rPr lang="en-US" sz="1667" baseline="30000" dirty="0">
                <a:solidFill>
                  <a:schemeClr val="tx2"/>
                </a:solidFill>
              </a:rPr>
              <a:t>−1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b) find the magnitude of the impulse received by the ball in the impact.</a:t>
            </a:r>
            <a:endParaRPr lang="en-US" sz="1667" dirty="0"/>
          </a:p>
        </p:txBody>
      </p:sp>
      <p:sp>
        <p:nvSpPr>
          <p:cNvPr id="4" name="Show button"/>
          <p:cNvSpPr/>
          <p:nvPr/>
        </p:nvSpPr>
        <p:spPr>
          <a:xfrm>
            <a:off x="237104" y="4783409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" name="Hide button"/>
          <p:cNvSpPr/>
          <p:nvPr/>
        </p:nvSpPr>
        <p:spPr>
          <a:xfrm>
            <a:off x="1202253" y="4783409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6" name="Diagram line 1"/>
          <p:cNvSpPr/>
          <p:nvPr/>
        </p:nvSpPr>
        <p:spPr>
          <a:xfrm>
            <a:off x="9204350" y="2133661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7" name="Diagram line 2"/>
          <p:cNvSpPr/>
          <p:nvPr/>
        </p:nvSpPr>
        <p:spPr>
          <a:xfrm>
            <a:off x="9256563" y="2029145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8" name="Diagram line 3"/>
          <p:cNvSpPr/>
          <p:nvPr/>
        </p:nvSpPr>
        <p:spPr>
          <a:xfrm>
            <a:off x="9308866" y="1924721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9" name="Diagram line 4"/>
          <p:cNvSpPr/>
          <p:nvPr/>
        </p:nvSpPr>
        <p:spPr>
          <a:xfrm>
            <a:off x="9361079" y="1820205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0" name="Diagram line 5"/>
          <p:cNvSpPr/>
          <p:nvPr/>
        </p:nvSpPr>
        <p:spPr>
          <a:xfrm>
            <a:off x="9413291" y="1715780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1" name="Diagram line 6"/>
          <p:cNvSpPr/>
          <p:nvPr/>
        </p:nvSpPr>
        <p:spPr>
          <a:xfrm>
            <a:off x="9465594" y="1611264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2" name="Diagram line 7"/>
          <p:cNvSpPr/>
          <p:nvPr/>
        </p:nvSpPr>
        <p:spPr>
          <a:xfrm>
            <a:off x="9517807" y="1506748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3" name="Diagram line 8"/>
          <p:cNvSpPr/>
          <p:nvPr/>
        </p:nvSpPr>
        <p:spPr>
          <a:xfrm>
            <a:off x="9570019" y="1402324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4" name="Diagram line 9"/>
          <p:cNvSpPr/>
          <p:nvPr/>
        </p:nvSpPr>
        <p:spPr>
          <a:xfrm>
            <a:off x="9622231" y="1297808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5" name="Diagram line 10"/>
          <p:cNvSpPr/>
          <p:nvPr/>
        </p:nvSpPr>
        <p:spPr>
          <a:xfrm>
            <a:off x="9674535" y="1193383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6" name="Diagram line 11"/>
          <p:cNvSpPr/>
          <p:nvPr/>
        </p:nvSpPr>
        <p:spPr>
          <a:xfrm>
            <a:off x="9726747" y="1088868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7" name="Diagram line 12"/>
          <p:cNvSpPr/>
          <p:nvPr/>
        </p:nvSpPr>
        <p:spPr>
          <a:xfrm>
            <a:off x="9778959" y="984443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8" name="Diagram line 13"/>
          <p:cNvSpPr/>
          <p:nvPr/>
        </p:nvSpPr>
        <p:spPr>
          <a:xfrm>
            <a:off x="9831263" y="879927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19" name="Diagram line 14"/>
          <p:cNvSpPr/>
          <p:nvPr/>
        </p:nvSpPr>
        <p:spPr>
          <a:xfrm>
            <a:off x="9883475" y="775503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20" name="Diagram line 15"/>
          <p:cNvSpPr/>
          <p:nvPr/>
        </p:nvSpPr>
        <p:spPr>
          <a:xfrm>
            <a:off x="9935688" y="670987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21" name="Diagram line 16"/>
          <p:cNvSpPr/>
          <p:nvPr/>
        </p:nvSpPr>
        <p:spPr>
          <a:xfrm>
            <a:off x="9987900" y="566471"/>
            <a:ext cx="68580" cy="107716"/>
          </a:xfrm>
          <a:prstGeom prst="line">
            <a:avLst/>
          </a:prstGeom>
          <a:noFill/>
          <a:ln w="10922">
            <a:solidFill>
              <a:schemeClr val="tx1"/>
            </a:solidFill>
            <a:prstDash val="solid"/>
          </a:ln>
        </p:spPr>
      </p:sp>
      <p:sp>
        <p:nvSpPr>
          <p:cNvPr id="22" name="Diagram line 17"/>
          <p:cNvSpPr/>
          <p:nvPr/>
        </p:nvSpPr>
        <p:spPr>
          <a:xfrm flipV="1">
            <a:off x="9165214" y="514259"/>
            <a:ext cx="848838" cy="1697675"/>
          </a:xfrm>
          <a:prstGeom prst="line">
            <a:avLst/>
          </a:prstGeom>
          <a:noFill/>
          <a:ln w="25527">
            <a:solidFill>
              <a:schemeClr val="tx1"/>
            </a:solidFill>
            <a:prstDash val="solid"/>
          </a:ln>
        </p:spPr>
      </p:sp>
      <p:sp>
        <p:nvSpPr>
          <p:cNvPr id="23" name="Diagram label 18"/>
          <p:cNvSpPr txBox="1"/>
          <p:nvPr/>
        </p:nvSpPr>
        <p:spPr>
          <a:xfrm>
            <a:off x="8981785" y="2319833"/>
            <a:ext cx="236190" cy="246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95" dirty="0">
                <a:solidFill>
                  <a:schemeClr val="tx1"/>
                </a:solidFill>
              </a:rPr>
              <a:t>A</a:t>
            </a:r>
            <a:endParaRPr lang="en-US" sz="1495" dirty="0"/>
          </a:p>
        </p:txBody>
      </p:sp>
      <p:sp>
        <p:nvSpPr>
          <p:cNvPr id="24" name="Diagram label 19"/>
          <p:cNvSpPr txBox="1"/>
          <p:nvPr/>
        </p:nvSpPr>
        <p:spPr>
          <a:xfrm>
            <a:off x="9961199" y="184343"/>
            <a:ext cx="236190" cy="24679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95" dirty="0">
                <a:solidFill>
                  <a:schemeClr val="tx1"/>
                </a:solidFill>
              </a:rPr>
              <a:t>B</a:t>
            </a:r>
            <a:endParaRPr lang="en-US" sz="1495" dirty="0"/>
          </a:p>
        </p:txBody>
      </p:sp>
      <p:sp>
        <p:nvSpPr>
          <p:cNvPr id="25" name="Diagram arrow 20"/>
          <p:cNvSpPr/>
          <p:nvPr/>
        </p:nvSpPr>
        <p:spPr>
          <a:xfrm flipV="1">
            <a:off x="7980335" y="1395740"/>
            <a:ext cx="1592885" cy="530992"/>
          </a:xfrm>
          <a:prstGeom prst="line">
            <a:avLst/>
          </a:prstGeom>
          <a:noFill/>
          <a:ln w="25527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26" name="Diagram arrow 21"/>
          <p:cNvSpPr/>
          <p:nvPr/>
        </p:nvSpPr>
        <p:spPr>
          <a:xfrm flipV="1">
            <a:off x="9573311" y="420167"/>
            <a:ext cx="139355" cy="975665"/>
          </a:xfrm>
          <a:prstGeom prst="line">
            <a:avLst/>
          </a:prstGeom>
          <a:noFill/>
          <a:ln w="25527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27" name="Diagram label 22"/>
          <p:cNvSpPr txBox="1"/>
          <p:nvPr/>
        </p:nvSpPr>
        <p:spPr>
          <a:xfrm>
            <a:off x="7685258" y="2041398"/>
            <a:ext cx="1612179" cy="20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5" dirty="0">
                <a:solidFill>
                  <a:schemeClr val="accent2"/>
                </a:solidFill>
              </a:rPr>
              <a:t>(9</a:t>
            </a:r>
            <a:r>
              <a:rPr lang="en-US" sz="1265" b="1" dirty="0">
                <a:solidFill>
                  <a:schemeClr val="accent2"/>
                </a:solidFill>
              </a:rPr>
              <a:t>i</a:t>
            </a:r>
            <a:r>
              <a:rPr lang="en-US" sz="1265" dirty="0">
                <a:solidFill>
                  <a:schemeClr val="accent2"/>
                </a:solidFill>
              </a:rPr>
              <a:t> + 3</a:t>
            </a:r>
            <a:r>
              <a:rPr lang="en-US" sz="1265" b="1" dirty="0">
                <a:solidFill>
                  <a:schemeClr val="accent2"/>
                </a:solidFill>
              </a:rPr>
              <a:t>j</a:t>
            </a:r>
            <a:r>
              <a:rPr lang="en-US" sz="1265" dirty="0">
                <a:solidFill>
                  <a:schemeClr val="accent2"/>
                </a:solidFill>
              </a:rPr>
              <a:t>) m s</a:t>
            </a:r>
            <a:r>
              <a:rPr lang="en-US" sz="1265" baseline="30000" dirty="0">
                <a:solidFill>
                  <a:schemeClr val="accent2"/>
                </a:solidFill>
              </a:rPr>
              <a:t>−1</a:t>
            </a:r>
            <a:endParaRPr lang="en-US" sz="1265" dirty="0"/>
          </a:p>
        </p:txBody>
      </p:sp>
      <p:sp>
        <p:nvSpPr>
          <p:cNvPr id="28" name="Diagram label 23"/>
          <p:cNvSpPr txBox="1"/>
          <p:nvPr/>
        </p:nvSpPr>
        <p:spPr>
          <a:xfrm>
            <a:off x="8809512" y="315742"/>
            <a:ext cx="815553" cy="20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65" b="1" dirty="0">
                <a:solidFill>
                  <a:schemeClr val="accent4"/>
                </a:solidFill>
              </a:rPr>
              <a:t>v</a:t>
            </a:r>
            <a:r>
              <a:rPr lang="en-US" sz="1265" dirty="0">
                <a:solidFill>
                  <a:schemeClr val="accent4"/>
                </a:solidFill>
              </a:rPr>
              <a:t> m s</a:t>
            </a:r>
            <a:r>
              <a:rPr lang="en-US" sz="1265" baseline="30000" dirty="0">
                <a:solidFill>
                  <a:schemeClr val="accent4"/>
                </a:solidFill>
              </a:rPr>
              <a:t>−1</a:t>
            </a:r>
            <a:endParaRPr lang="en-US" sz="1265" dirty="0"/>
          </a:p>
        </p:txBody>
      </p:sp>
      <p:sp>
        <p:nvSpPr>
          <p:cNvPr id="29" name="Solution text"/>
          <p:cNvSpPr txBox="1"/>
          <p:nvPr/>
        </p:nvSpPr>
        <p:spPr>
          <a:xfrm>
            <a:off x="5842010" y="2675443"/>
            <a:ext cx="6265377" cy="218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+ 2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, 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= 2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− 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  (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= 2 − 2 = 0).  Let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 = p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q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a)</a:t>
            </a:r>
            <a:r>
              <a:rPr lang="en-US" sz="1400" dirty="0">
                <a:solidFill>
                  <a:schemeClr val="accent1"/>
                </a:solidFill>
              </a:rPr>
              <a:t> </a:t>
            </a: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:  9 + 6 = p + 2q, so p + 2q = 15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−e</a:t>
            </a: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:  −</a:t>
            </a:r>
            <a:r>
              <a:rPr lang="en-US" sz="1400" baseline="30000" dirty="0">
                <a:solidFill>
                  <a:schemeClr val="accent1"/>
                </a:solidFill>
              </a:rPr>
              <a:t>1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3</a:t>
            </a:r>
            <a:r>
              <a:rPr lang="en-US" sz="1400" dirty="0">
                <a:solidFill>
                  <a:schemeClr val="accent1"/>
                </a:solidFill>
              </a:rPr>
              <a:t>(18 − 3) = 2p − q, so 2p − q = −5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Solving: p = 1, q = 7, so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 = (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+ 7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 m s</a:t>
            </a:r>
            <a:r>
              <a:rPr lang="en-US" sz="1400" baseline="30000" dirty="0">
                <a:solidFill>
                  <a:schemeClr val="accent1"/>
                </a:solidFill>
              </a:rPr>
              <a:t>−1</a:t>
            </a:r>
            <a:r>
              <a:rPr lang="en-US" sz="1400" dirty="0">
                <a:solidFill>
                  <a:schemeClr val="accent1"/>
                </a:solidFill>
              </a:rPr>
              <a:t> as required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b)</a:t>
            </a:r>
            <a:r>
              <a:rPr lang="en-US" sz="1400" dirty="0">
                <a:solidFill>
                  <a:schemeClr val="accent1"/>
                </a:solidFill>
              </a:rPr>
              <a:t> Impulse = m(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 − </a:t>
            </a: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) = 0.25((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+ 7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 − (9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+ 3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= 0.25(−8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+ 4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 = −2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Magnitude = √(2² + 1²) = √5 = 2.24 N s (3 s.f.)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Check: −2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 is parallel to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, so the impulse is perpendicular to the wall.</a:t>
            </a:r>
            <a:endParaRPr lang="en-US" sz="1400" dirty="0"/>
          </a:p>
        </p:txBody>
      </p:sp>
      <p:sp>
        <p:nvSpPr>
          <p:cNvPr id="30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31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29" grpId="0"/>
      <p:bldP spid="2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2. Figure 2 represents the plan view of part of a smooth horizontal floor, where AB is a fixed smooth vertical wall.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 small ball is moving on the floor when it strikes the wall.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Immediately before the impact, the velocity of the ball is (4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− 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 m s</a:t>
            </a:r>
            <a:r>
              <a:rPr lang="en-US" sz="1667" baseline="30000" dirty="0">
                <a:solidFill>
                  <a:schemeClr val="tx2"/>
                </a:solidFill>
              </a:rPr>
              <a:t>−1</a:t>
            </a:r>
            <a:r>
              <a:rPr lang="en-US" sz="1667" dirty="0">
                <a:solidFill>
                  <a:schemeClr val="tx2"/>
                </a:solidFill>
              </a:rPr>
              <a:t>. Immediately after the impact, the velocity of the ball is (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+ 3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 m s</a:t>
            </a:r>
            <a:r>
              <a:rPr lang="en-US" sz="1667" baseline="30000" dirty="0">
                <a:solidFill>
                  <a:schemeClr val="tx2"/>
                </a:solidFill>
              </a:rPr>
              <a:t>−1</a:t>
            </a:r>
            <a:r>
              <a:rPr lang="en-US" sz="1667" dirty="0">
                <a:solidFill>
                  <a:schemeClr val="tx2"/>
                </a:solidFill>
              </a:rPr>
              <a:t>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The coefficient of restitution between the ball and the wall is e.</a:t>
            </a:r>
            <a:endParaRPr lang="en-US" sz="1667" dirty="0"/>
          </a:p>
        </p:txBody>
      </p:sp>
      <p:sp>
        <p:nvSpPr>
          <p:cNvPr id="3" name="Find"/>
          <p:cNvSpPr/>
          <p:nvPr/>
        </p:nvSpPr>
        <p:spPr>
          <a:xfrm>
            <a:off x="237104" y="2962930"/>
            <a:ext cx="5418643" cy="880567"/>
          </a:xfrm>
          <a:prstGeom prst="roundRect">
            <a:avLst>
              <a:gd name="adj" fmla="val 7695"/>
            </a:avLst>
          </a:prstGeom>
          <a:solidFill>
            <a:schemeClr val="bg2"/>
          </a:solidFill>
          <a:ln/>
        </p:spPr>
        <p:txBody>
          <a:bodyPr wrap="square" lIns="135509" tIns="118491" rIns="135509" bIns="118491" rtlCol="0" anchor="t"/>
          <a:lstStyle/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a) Show that AB is parallel to (4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+ 3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b) Find the value of e.</a:t>
            </a:r>
            <a:endParaRPr lang="en-US" sz="1667" dirty="0"/>
          </a:p>
        </p:txBody>
      </p:sp>
      <p:sp>
        <p:nvSpPr>
          <p:cNvPr id="4" name="Show button"/>
          <p:cNvSpPr/>
          <p:nvPr/>
        </p:nvSpPr>
        <p:spPr>
          <a:xfrm>
            <a:off x="237104" y="3978920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" name="Hide button"/>
          <p:cNvSpPr/>
          <p:nvPr/>
        </p:nvSpPr>
        <p:spPr>
          <a:xfrm>
            <a:off x="1202253" y="3978920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6" name="Diagram line 1"/>
          <p:cNvSpPr/>
          <p:nvPr/>
        </p:nvSpPr>
        <p:spPr>
          <a:xfrm>
            <a:off x="8601304" y="2151400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7" name="Diagram line 2"/>
          <p:cNvSpPr/>
          <p:nvPr/>
        </p:nvSpPr>
        <p:spPr>
          <a:xfrm>
            <a:off x="8707008" y="2072122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8" name="Diagram line 3"/>
          <p:cNvSpPr/>
          <p:nvPr/>
        </p:nvSpPr>
        <p:spPr>
          <a:xfrm>
            <a:off x="8812804" y="1992843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9" name="Diagram line 4"/>
          <p:cNvSpPr/>
          <p:nvPr/>
        </p:nvSpPr>
        <p:spPr>
          <a:xfrm>
            <a:off x="8918509" y="1913565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0" name="Diagram line 5"/>
          <p:cNvSpPr/>
          <p:nvPr/>
        </p:nvSpPr>
        <p:spPr>
          <a:xfrm>
            <a:off x="9024214" y="1834286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1" name="Diagram line 6"/>
          <p:cNvSpPr/>
          <p:nvPr/>
        </p:nvSpPr>
        <p:spPr>
          <a:xfrm>
            <a:off x="9129918" y="1755008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2" name="Diagram line 7"/>
          <p:cNvSpPr/>
          <p:nvPr/>
        </p:nvSpPr>
        <p:spPr>
          <a:xfrm>
            <a:off x="9235623" y="1675729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3" name="Diagram line 8"/>
          <p:cNvSpPr/>
          <p:nvPr/>
        </p:nvSpPr>
        <p:spPr>
          <a:xfrm>
            <a:off x="9341328" y="1596451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4" name="Diagram line 9"/>
          <p:cNvSpPr/>
          <p:nvPr/>
        </p:nvSpPr>
        <p:spPr>
          <a:xfrm>
            <a:off x="9447032" y="1517172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5" name="Diagram line 10"/>
          <p:cNvSpPr/>
          <p:nvPr/>
        </p:nvSpPr>
        <p:spPr>
          <a:xfrm>
            <a:off x="9552737" y="1437894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6" name="Diagram line 11"/>
          <p:cNvSpPr/>
          <p:nvPr/>
        </p:nvSpPr>
        <p:spPr>
          <a:xfrm>
            <a:off x="9658441" y="1358616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7" name="Diagram line 12"/>
          <p:cNvSpPr/>
          <p:nvPr/>
        </p:nvSpPr>
        <p:spPr>
          <a:xfrm>
            <a:off x="9764146" y="1279337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8" name="Diagram line 13"/>
          <p:cNvSpPr/>
          <p:nvPr/>
        </p:nvSpPr>
        <p:spPr>
          <a:xfrm>
            <a:off x="9869851" y="1200059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19" name="Diagram line 14"/>
          <p:cNvSpPr/>
          <p:nvPr/>
        </p:nvSpPr>
        <p:spPr>
          <a:xfrm>
            <a:off x="9975555" y="1120780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20" name="Diagram line 15"/>
          <p:cNvSpPr/>
          <p:nvPr/>
        </p:nvSpPr>
        <p:spPr>
          <a:xfrm>
            <a:off x="10081260" y="1041502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21" name="Diagram line 16"/>
          <p:cNvSpPr/>
          <p:nvPr/>
        </p:nvSpPr>
        <p:spPr>
          <a:xfrm>
            <a:off x="10186965" y="962223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22" name="Diagram line 17"/>
          <p:cNvSpPr/>
          <p:nvPr/>
        </p:nvSpPr>
        <p:spPr>
          <a:xfrm>
            <a:off x="10292761" y="882945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23" name="Diagram line 18"/>
          <p:cNvSpPr/>
          <p:nvPr/>
        </p:nvSpPr>
        <p:spPr>
          <a:xfrm>
            <a:off x="10398465" y="803575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24" name="Diagram line 19"/>
          <p:cNvSpPr/>
          <p:nvPr/>
        </p:nvSpPr>
        <p:spPr>
          <a:xfrm>
            <a:off x="10504170" y="724296"/>
            <a:ext cx="14905" cy="143744"/>
          </a:xfrm>
          <a:prstGeom prst="line">
            <a:avLst/>
          </a:prstGeom>
          <a:noFill/>
          <a:ln w="12446">
            <a:solidFill>
              <a:schemeClr val="tx1"/>
            </a:solidFill>
            <a:prstDash val="solid"/>
          </a:ln>
        </p:spPr>
      </p:sp>
      <p:sp>
        <p:nvSpPr>
          <p:cNvPr id="25" name="Diagram line 20"/>
          <p:cNvSpPr/>
          <p:nvPr/>
        </p:nvSpPr>
        <p:spPr>
          <a:xfrm flipV="1">
            <a:off x="8522025" y="625267"/>
            <a:ext cx="2114184" cy="1585661"/>
          </a:xfrm>
          <a:prstGeom prst="line">
            <a:avLst/>
          </a:prstGeom>
          <a:noFill/>
          <a:ln w="28956">
            <a:solidFill>
              <a:schemeClr val="tx1"/>
            </a:solidFill>
            <a:prstDash val="solid"/>
          </a:ln>
        </p:spPr>
      </p:sp>
      <p:sp>
        <p:nvSpPr>
          <p:cNvPr id="26" name="Diagram label 21"/>
          <p:cNvSpPr txBox="1"/>
          <p:nvPr/>
        </p:nvSpPr>
        <p:spPr>
          <a:xfrm>
            <a:off x="8264073" y="2284263"/>
            <a:ext cx="251643" cy="279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91" dirty="0">
                <a:solidFill>
                  <a:schemeClr val="tx1"/>
                </a:solidFill>
              </a:rPr>
              <a:t>A</a:t>
            </a:r>
            <a:endParaRPr lang="en-US" sz="1691" dirty="0"/>
          </a:p>
        </p:txBody>
      </p:sp>
      <p:sp>
        <p:nvSpPr>
          <p:cNvPr id="27" name="Diagram label 22"/>
          <p:cNvSpPr txBox="1"/>
          <p:nvPr/>
        </p:nvSpPr>
        <p:spPr>
          <a:xfrm>
            <a:off x="10642610" y="300655"/>
            <a:ext cx="251643" cy="2791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91" dirty="0">
                <a:solidFill>
                  <a:schemeClr val="tx1"/>
                </a:solidFill>
              </a:rPr>
              <a:t>B</a:t>
            </a:r>
            <a:endParaRPr lang="en-US" sz="1691" dirty="0"/>
          </a:p>
        </p:txBody>
      </p:sp>
      <p:sp>
        <p:nvSpPr>
          <p:cNvPr id="28" name="Diagram arrow 23"/>
          <p:cNvSpPr/>
          <p:nvPr/>
        </p:nvSpPr>
        <p:spPr>
          <a:xfrm>
            <a:off x="7750454" y="1026963"/>
            <a:ext cx="1762689" cy="440649"/>
          </a:xfrm>
          <a:prstGeom prst="line">
            <a:avLst/>
          </a:prstGeom>
          <a:noFill/>
          <a:ln w="28956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29" name="Diagram arrow 24"/>
          <p:cNvSpPr/>
          <p:nvPr/>
        </p:nvSpPr>
        <p:spPr>
          <a:xfrm flipV="1">
            <a:off x="9513143" y="292425"/>
            <a:ext cx="391729" cy="1175278"/>
          </a:xfrm>
          <a:prstGeom prst="line">
            <a:avLst/>
          </a:prstGeom>
          <a:noFill/>
          <a:ln w="28956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30" name="Diagram label 25"/>
          <p:cNvSpPr txBox="1"/>
          <p:nvPr/>
        </p:nvSpPr>
        <p:spPr>
          <a:xfrm>
            <a:off x="6985193" y="677570"/>
            <a:ext cx="169557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1" dirty="0">
                <a:solidFill>
                  <a:schemeClr val="accent2"/>
                </a:solidFill>
              </a:rPr>
              <a:t>(4</a:t>
            </a:r>
            <a:r>
              <a:rPr lang="en-US" sz="1431" b="1" dirty="0">
                <a:solidFill>
                  <a:schemeClr val="accent2"/>
                </a:solidFill>
              </a:rPr>
              <a:t>i</a:t>
            </a:r>
            <a:r>
              <a:rPr lang="en-US" sz="1431" dirty="0">
                <a:solidFill>
                  <a:schemeClr val="accent2"/>
                </a:solidFill>
              </a:rPr>
              <a:t> − </a:t>
            </a:r>
            <a:r>
              <a:rPr lang="en-US" sz="1431" b="1" dirty="0">
                <a:solidFill>
                  <a:schemeClr val="accent2"/>
                </a:solidFill>
              </a:rPr>
              <a:t>j</a:t>
            </a:r>
            <a:r>
              <a:rPr lang="en-US" sz="1431" dirty="0">
                <a:solidFill>
                  <a:schemeClr val="accent2"/>
                </a:solidFill>
              </a:rPr>
              <a:t>) m s</a:t>
            </a:r>
            <a:r>
              <a:rPr lang="en-US" sz="1431" baseline="30000" dirty="0">
                <a:solidFill>
                  <a:schemeClr val="accent2"/>
                </a:solidFill>
              </a:rPr>
              <a:t>−1</a:t>
            </a:r>
            <a:endParaRPr lang="en-US" sz="1431" dirty="0"/>
          </a:p>
        </p:txBody>
      </p:sp>
      <p:sp>
        <p:nvSpPr>
          <p:cNvPr id="31" name="Diagram label 26"/>
          <p:cNvSpPr txBox="1"/>
          <p:nvPr/>
        </p:nvSpPr>
        <p:spPr>
          <a:xfrm>
            <a:off x="8110088" y="174285"/>
            <a:ext cx="169557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31" dirty="0">
                <a:solidFill>
                  <a:schemeClr val="accent4"/>
                </a:solidFill>
              </a:rPr>
              <a:t>(</a:t>
            </a:r>
            <a:r>
              <a:rPr lang="en-US" sz="1431" b="1" dirty="0">
                <a:solidFill>
                  <a:schemeClr val="accent4"/>
                </a:solidFill>
              </a:rPr>
              <a:t>i</a:t>
            </a:r>
            <a:r>
              <a:rPr lang="en-US" sz="1431" dirty="0">
                <a:solidFill>
                  <a:schemeClr val="accent4"/>
                </a:solidFill>
              </a:rPr>
              <a:t> + 3</a:t>
            </a:r>
            <a:r>
              <a:rPr lang="en-US" sz="1431" b="1" dirty="0">
                <a:solidFill>
                  <a:schemeClr val="accent4"/>
                </a:solidFill>
              </a:rPr>
              <a:t>j</a:t>
            </a:r>
            <a:r>
              <a:rPr lang="en-US" sz="1431" dirty="0">
                <a:solidFill>
                  <a:schemeClr val="accent4"/>
                </a:solidFill>
              </a:rPr>
              <a:t>) m s</a:t>
            </a:r>
            <a:r>
              <a:rPr lang="en-US" sz="1431" baseline="30000" dirty="0">
                <a:solidFill>
                  <a:schemeClr val="accent4"/>
                </a:solidFill>
              </a:rPr>
              <a:t>−1</a:t>
            </a:r>
            <a:endParaRPr lang="en-US" sz="1431" dirty="0"/>
          </a:p>
        </p:txBody>
      </p:sp>
      <p:sp>
        <p:nvSpPr>
          <p:cNvPr id="32" name="Solution text"/>
          <p:cNvSpPr txBox="1"/>
          <p:nvPr/>
        </p:nvSpPr>
        <p:spPr>
          <a:xfrm>
            <a:off x="5842010" y="2675443"/>
            <a:ext cx="6265377" cy="2451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a)</a:t>
            </a:r>
            <a:r>
              <a:rPr lang="en-US" sz="1400" dirty="0">
                <a:solidFill>
                  <a:schemeClr val="accent1"/>
                </a:solidFill>
              </a:rPr>
              <a:t> Let AB be parallel to 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 = a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b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:  4a − b = a + 3b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3a = 4b, so a : b = 4 : 3 and AB is parallel to (4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+ 3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Or: the impulse m(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 − </a:t>
            </a: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) = m(−3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+ 4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 is perpendicular to the wall,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and (−3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+ 4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).(4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+ 3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 = −12 + 12 = 0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b)</a:t>
            </a:r>
            <a:r>
              <a:rPr lang="en-US" sz="1400" dirty="0">
                <a:solidFill>
                  <a:schemeClr val="accent1"/>
                </a:solidFill>
              </a:rPr>
              <a:t>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= 3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− 4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 is perpendicular to the wall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−e</a:t>
            </a: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:  −e(12 + 4) = 3 − 12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−16e = −9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e = </a:t>
            </a:r>
            <a:r>
              <a:rPr lang="en-US" sz="1400" baseline="30000" dirty="0">
                <a:solidFill>
                  <a:schemeClr val="accent1"/>
                </a:solidFill>
              </a:rPr>
              <a:t>9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16</a:t>
            </a:r>
            <a:endParaRPr lang="en-US" sz="1400" dirty="0"/>
          </a:p>
        </p:txBody>
      </p:sp>
      <p:sp>
        <p:nvSpPr>
          <p:cNvPr id="33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  <p:sp>
        <p:nvSpPr>
          <p:cNvPr id="34" name="Next slide">
            <a:hlinkClick r:id="" action="ppaction://hlinkshowjump?jump=nextslide"/>
          </p:cNvPr>
          <p:cNvSpPr txBox="1"/>
          <p:nvPr/>
        </p:nvSpPr>
        <p:spPr>
          <a:xfrm>
            <a:off x="107187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Next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32" grpId="0"/>
      <p:bldP spid="3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237104" y="203180"/>
            <a:ext cx="5418643" cy="2794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3. Figure 3 represents the plan view of part of a smooth horizontal floor, where RS and ST are smooth fixed vertical walls. RS is in the direction of 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and ST is in the direction of (3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+ 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 small ball B is projected across the floor towards RS. Immediately before the impact with RS, the velocity of B is (9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− 6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) m s</a:t>
            </a:r>
            <a:r>
              <a:rPr lang="en-US" sz="1667" baseline="30000" dirty="0">
                <a:solidFill>
                  <a:schemeClr val="tx2"/>
                </a:solidFill>
              </a:rPr>
              <a:t>−1</a:t>
            </a:r>
            <a:r>
              <a:rPr lang="en-US" sz="1667" dirty="0">
                <a:solidFill>
                  <a:schemeClr val="tx2"/>
                </a:solidFill>
              </a:rPr>
              <a:t>. The ball bounces off RS and then hits ST. The ball is modelled as a particle.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933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Given that the coefficient of restitution between B and RS is e,</a:t>
            </a:r>
            <a:endParaRPr lang="en-US" sz="1667" dirty="0"/>
          </a:p>
        </p:txBody>
      </p:sp>
      <p:sp>
        <p:nvSpPr>
          <p:cNvPr id="3" name="Find"/>
          <p:cNvSpPr/>
          <p:nvPr/>
        </p:nvSpPr>
        <p:spPr>
          <a:xfrm>
            <a:off x="237104" y="3403305"/>
            <a:ext cx="5418643" cy="1803380"/>
          </a:xfrm>
          <a:prstGeom prst="roundRect">
            <a:avLst>
              <a:gd name="adj" fmla="val 3757"/>
            </a:avLst>
          </a:prstGeom>
          <a:solidFill>
            <a:schemeClr val="bg2"/>
          </a:solidFill>
          <a:ln/>
        </p:spPr>
        <p:txBody>
          <a:bodyPr wrap="square" lIns="135509" tIns="118491" rIns="135509" bIns="118491" rtlCol="0" anchor="t"/>
          <a:lstStyle/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a) find the full range of possible values of e.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It is now given that e = </a:t>
            </a:r>
            <a:r>
              <a:rPr lang="en-US" sz="1667" baseline="30000" dirty="0">
                <a:solidFill>
                  <a:schemeClr val="tx2"/>
                </a:solidFill>
              </a:rPr>
              <a:t>1</a:t>
            </a:r>
            <a:r>
              <a:rPr lang="en-US" sz="1667" dirty="0">
                <a:solidFill>
                  <a:schemeClr val="tx2"/>
                </a:solidFill>
              </a:rPr>
              <a:t>⁄</a:t>
            </a:r>
            <a:r>
              <a:rPr lang="en-US" sz="1667" baseline="-8000" dirty="0">
                <a:solidFill>
                  <a:schemeClr val="tx2"/>
                </a:solidFill>
              </a:rPr>
              <a:t>3</a:t>
            </a:r>
            <a:r>
              <a:rPr lang="en-US" sz="1667" dirty="0">
                <a:solidFill>
                  <a:schemeClr val="tx2"/>
                </a:solidFill>
              </a:rPr>
              <a:t> and that the coefficient of restitution between B and ST is </a:t>
            </a:r>
            <a:r>
              <a:rPr lang="en-US" sz="1667" baseline="30000" dirty="0">
                <a:solidFill>
                  <a:schemeClr val="tx2"/>
                </a:solidFill>
              </a:rPr>
              <a:t>2</a:t>
            </a:r>
            <a:r>
              <a:rPr lang="en-US" sz="1667" dirty="0">
                <a:solidFill>
                  <a:schemeClr val="tx2"/>
                </a:solidFill>
              </a:rPr>
              <a:t>⁄</a:t>
            </a:r>
            <a:r>
              <a:rPr lang="en-US" sz="1667" baseline="-8000" dirty="0">
                <a:solidFill>
                  <a:schemeClr val="tx2"/>
                </a:solidFill>
              </a:rPr>
              <a:t>3</a:t>
            </a:r>
            <a:r>
              <a:rPr lang="en-US" sz="1667" dirty="0">
                <a:solidFill>
                  <a:schemeClr val="tx2"/>
                </a:solidFill>
              </a:rPr>
              <a:t>.</a:t>
            </a:r>
            <a:endParaRPr lang="en-US" sz="1667" dirty="0"/>
          </a:p>
          <a:p>
            <a:pPr algn="l" indent="0" marL="0">
              <a:lnSpc>
                <a:spcPts val="2200"/>
              </a:lnSpc>
              <a:spcAft>
                <a:spcPts val="667"/>
              </a:spcAft>
              <a:buNone/>
            </a:pPr>
            <a:r>
              <a:rPr lang="en-US" sz="1667" dirty="0">
                <a:solidFill>
                  <a:schemeClr val="tx2"/>
                </a:solidFill>
              </a:rPr>
              <a:t>b) Find, in terms of </a:t>
            </a:r>
            <a:r>
              <a:rPr lang="en-US" sz="1667" b="1" dirty="0">
                <a:solidFill>
                  <a:schemeClr val="tx2"/>
                </a:solidFill>
              </a:rPr>
              <a:t>i</a:t>
            </a:r>
            <a:r>
              <a:rPr lang="en-US" sz="1667" dirty="0">
                <a:solidFill>
                  <a:schemeClr val="tx2"/>
                </a:solidFill>
              </a:rPr>
              <a:t> and </a:t>
            </a:r>
            <a:r>
              <a:rPr lang="en-US" sz="1667" b="1" dirty="0">
                <a:solidFill>
                  <a:schemeClr val="tx2"/>
                </a:solidFill>
              </a:rPr>
              <a:t>j</a:t>
            </a:r>
            <a:r>
              <a:rPr lang="en-US" sz="1667" dirty="0">
                <a:solidFill>
                  <a:schemeClr val="tx2"/>
                </a:solidFill>
              </a:rPr>
              <a:t>, the velocity of B immediately after its impact with ST.</a:t>
            </a:r>
            <a:endParaRPr lang="en-US" sz="1667" dirty="0"/>
          </a:p>
        </p:txBody>
      </p:sp>
      <p:sp>
        <p:nvSpPr>
          <p:cNvPr id="4" name="Show button"/>
          <p:cNvSpPr/>
          <p:nvPr/>
        </p:nvSpPr>
        <p:spPr>
          <a:xfrm>
            <a:off x="237104" y="5342199"/>
            <a:ext cx="846643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Show</a:t>
            </a:r>
            <a:endParaRPr lang="en-US" sz="1600" dirty="0"/>
          </a:p>
        </p:txBody>
      </p:sp>
      <p:sp>
        <p:nvSpPr>
          <p:cNvPr id="5" name="Hide button"/>
          <p:cNvSpPr/>
          <p:nvPr/>
        </p:nvSpPr>
        <p:spPr>
          <a:xfrm>
            <a:off x="1202253" y="5342199"/>
            <a:ext cx="778977" cy="406359"/>
          </a:xfrm>
          <a:prstGeom prst="roundRect">
            <a:avLst>
              <a:gd name="adj" fmla="val 20837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Hide</a:t>
            </a:r>
            <a:endParaRPr lang="en-US" sz="1600" dirty="0"/>
          </a:p>
        </p:txBody>
      </p:sp>
      <p:sp>
        <p:nvSpPr>
          <p:cNvPr id="6" name="Diagram line 1"/>
          <p:cNvSpPr/>
          <p:nvPr/>
        </p:nvSpPr>
        <p:spPr>
          <a:xfrm flipH="1">
            <a:off x="6048116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7" name="Diagram line 2"/>
          <p:cNvSpPr/>
          <p:nvPr/>
        </p:nvSpPr>
        <p:spPr>
          <a:xfrm flipH="1">
            <a:off x="6154369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8" name="Diagram line 3"/>
          <p:cNvSpPr/>
          <p:nvPr/>
        </p:nvSpPr>
        <p:spPr>
          <a:xfrm flipH="1">
            <a:off x="6260714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9" name="Diagram line 4"/>
          <p:cNvSpPr/>
          <p:nvPr/>
        </p:nvSpPr>
        <p:spPr>
          <a:xfrm flipH="1">
            <a:off x="6366967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0" name="Diagram line 5"/>
          <p:cNvSpPr/>
          <p:nvPr/>
        </p:nvSpPr>
        <p:spPr>
          <a:xfrm flipH="1">
            <a:off x="6473220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1" name="Diagram line 6"/>
          <p:cNvSpPr/>
          <p:nvPr/>
        </p:nvSpPr>
        <p:spPr>
          <a:xfrm flipH="1">
            <a:off x="6579565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2" name="Diagram line 7"/>
          <p:cNvSpPr/>
          <p:nvPr/>
        </p:nvSpPr>
        <p:spPr>
          <a:xfrm flipH="1">
            <a:off x="6685818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3" name="Diagram line 8"/>
          <p:cNvSpPr/>
          <p:nvPr/>
        </p:nvSpPr>
        <p:spPr>
          <a:xfrm flipH="1">
            <a:off x="6792072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4" name="Diagram line 9"/>
          <p:cNvSpPr/>
          <p:nvPr/>
        </p:nvSpPr>
        <p:spPr>
          <a:xfrm flipH="1">
            <a:off x="6898416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5" name="Diagram line 10"/>
          <p:cNvSpPr/>
          <p:nvPr/>
        </p:nvSpPr>
        <p:spPr>
          <a:xfrm flipH="1">
            <a:off x="7004670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6" name="Diagram line 11"/>
          <p:cNvSpPr/>
          <p:nvPr/>
        </p:nvSpPr>
        <p:spPr>
          <a:xfrm flipH="1">
            <a:off x="7110923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7" name="Diagram line 12"/>
          <p:cNvSpPr/>
          <p:nvPr/>
        </p:nvSpPr>
        <p:spPr>
          <a:xfrm flipH="1">
            <a:off x="7217268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8" name="Diagram line 13"/>
          <p:cNvSpPr/>
          <p:nvPr/>
        </p:nvSpPr>
        <p:spPr>
          <a:xfrm flipH="1">
            <a:off x="7323521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19" name="Diagram line 14"/>
          <p:cNvSpPr/>
          <p:nvPr/>
        </p:nvSpPr>
        <p:spPr>
          <a:xfrm flipH="1">
            <a:off x="7429866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0" name="Diagram line 15"/>
          <p:cNvSpPr/>
          <p:nvPr/>
        </p:nvSpPr>
        <p:spPr>
          <a:xfrm flipH="1">
            <a:off x="7536119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1" name="Diagram line 16"/>
          <p:cNvSpPr/>
          <p:nvPr/>
        </p:nvSpPr>
        <p:spPr>
          <a:xfrm flipH="1">
            <a:off x="7642372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2" name="Diagram line 17"/>
          <p:cNvSpPr/>
          <p:nvPr/>
        </p:nvSpPr>
        <p:spPr>
          <a:xfrm flipH="1">
            <a:off x="7748717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3" name="Diagram line 18"/>
          <p:cNvSpPr/>
          <p:nvPr/>
        </p:nvSpPr>
        <p:spPr>
          <a:xfrm flipH="1">
            <a:off x="7854970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4" name="Diagram line 19"/>
          <p:cNvSpPr/>
          <p:nvPr/>
        </p:nvSpPr>
        <p:spPr>
          <a:xfrm flipH="1">
            <a:off x="7961224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5" name="Diagram line 20"/>
          <p:cNvSpPr/>
          <p:nvPr/>
        </p:nvSpPr>
        <p:spPr>
          <a:xfrm flipH="1">
            <a:off x="8067568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6" name="Diagram line 21"/>
          <p:cNvSpPr/>
          <p:nvPr/>
        </p:nvSpPr>
        <p:spPr>
          <a:xfrm flipH="1">
            <a:off x="8173822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7" name="Diagram line 22"/>
          <p:cNvSpPr/>
          <p:nvPr/>
        </p:nvSpPr>
        <p:spPr>
          <a:xfrm flipH="1">
            <a:off x="8280075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8" name="Diagram line 23"/>
          <p:cNvSpPr/>
          <p:nvPr/>
        </p:nvSpPr>
        <p:spPr>
          <a:xfrm flipH="1">
            <a:off x="8386420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29" name="Diagram line 24"/>
          <p:cNvSpPr/>
          <p:nvPr/>
        </p:nvSpPr>
        <p:spPr>
          <a:xfrm flipH="1">
            <a:off x="8492673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0" name="Diagram line 25"/>
          <p:cNvSpPr/>
          <p:nvPr/>
        </p:nvSpPr>
        <p:spPr>
          <a:xfrm flipH="1">
            <a:off x="8599018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1" name="Diagram line 26"/>
          <p:cNvSpPr/>
          <p:nvPr/>
        </p:nvSpPr>
        <p:spPr>
          <a:xfrm flipH="1">
            <a:off x="8705271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2" name="Diagram line 27"/>
          <p:cNvSpPr/>
          <p:nvPr/>
        </p:nvSpPr>
        <p:spPr>
          <a:xfrm flipH="1">
            <a:off x="8811524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3" name="Diagram line 28"/>
          <p:cNvSpPr/>
          <p:nvPr/>
        </p:nvSpPr>
        <p:spPr>
          <a:xfrm flipH="1">
            <a:off x="8917869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4" name="Diagram line 29"/>
          <p:cNvSpPr/>
          <p:nvPr/>
        </p:nvSpPr>
        <p:spPr>
          <a:xfrm flipH="1">
            <a:off x="9024122" y="1807769"/>
            <a:ext cx="59802" cy="99670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5" name="Diagram line 30"/>
          <p:cNvSpPr/>
          <p:nvPr/>
        </p:nvSpPr>
        <p:spPr>
          <a:xfrm>
            <a:off x="6028182" y="1807769"/>
            <a:ext cx="3122127" cy="0"/>
          </a:xfrm>
          <a:prstGeom prst="line">
            <a:avLst/>
          </a:prstGeom>
          <a:noFill/>
          <a:ln w="23241">
            <a:solidFill>
              <a:schemeClr val="tx1"/>
            </a:solidFill>
            <a:prstDash val="solid"/>
          </a:ln>
        </p:spPr>
      </p:sp>
      <p:sp>
        <p:nvSpPr>
          <p:cNvPr id="36" name="Diagram line 31"/>
          <p:cNvSpPr/>
          <p:nvPr/>
        </p:nvSpPr>
        <p:spPr>
          <a:xfrm flipH="1">
            <a:off x="9200784" y="1782531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7" name="Diagram line 32"/>
          <p:cNvSpPr/>
          <p:nvPr/>
        </p:nvSpPr>
        <p:spPr>
          <a:xfrm flipH="1">
            <a:off x="9301551" y="1748973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8" name="Diagram line 33"/>
          <p:cNvSpPr/>
          <p:nvPr/>
        </p:nvSpPr>
        <p:spPr>
          <a:xfrm flipH="1">
            <a:off x="9402409" y="1715323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39" name="Diagram line 34"/>
          <p:cNvSpPr/>
          <p:nvPr/>
        </p:nvSpPr>
        <p:spPr>
          <a:xfrm flipH="1">
            <a:off x="9503268" y="1681673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0" name="Diagram line 35"/>
          <p:cNvSpPr/>
          <p:nvPr/>
        </p:nvSpPr>
        <p:spPr>
          <a:xfrm flipH="1">
            <a:off x="9604035" y="1648115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1" name="Diagram line 36"/>
          <p:cNvSpPr/>
          <p:nvPr/>
        </p:nvSpPr>
        <p:spPr>
          <a:xfrm flipH="1">
            <a:off x="9704893" y="1614465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2" name="Diagram line 37"/>
          <p:cNvSpPr/>
          <p:nvPr/>
        </p:nvSpPr>
        <p:spPr>
          <a:xfrm flipH="1">
            <a:off x="9805751" y="1580906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3" name="Diagram line 38"/>
          <p:cNvSpPr/>
          <p:nvPr/>
        </p:nvSpPr>
        <p:spPr>
          <a:xfrm flipH="1">
            <a:off x="9906610" y="1547256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4" name="Diagram line 39"/>
          <p:cNvSpPr/>
          <p:nvPr/>
        </p:nvSpPr>
        <p:spPr>
          <a:xfrm flipH="1">
            <a:off x="10007376" y="1513698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5" name="Diagram line 40"/>
          <p:cNvSpPr/>
          <p:nvPr/>
        </p:nvSpPr>
        <p:spPr>
          <a:xfrm flipH="1">
            <a:off x="10108235" y="1480048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6" name="Diagram line 41"/>
          <p:cNvSpPr/>
          <p:nvPr/>
        </p:nvSpPr>
        <p:spPr>
          <a:xfrm flipH="1">
            <a:off x="10209093" y="1446398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7" name="Diagram line 42"/>
          <p:cNvSpPr/>
          <p:nvPr/>
        </p:nvSpPr>
        <p:spPr>
          <a:xfrm flipH="1">
            <a:off x="10309860" y="1412839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8" name="Diagram line 43"/>
          <p:cNvSpPr/>
          <p:nvPr/>
        </p:nvSpPr>
        <p:spPr>
          <a:xfrm flipH="1">
            <a:off x="10410718" y="1379190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49" name="Diagram line 44"/>
          <p:cNvSpPr/>
          <p:nvPr/>
        </p:nvSpPr>
        <p:spPr>
          <a:xfrm flipH="1">
            <a:off x="10511577" y="1345631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0" name="Diagram line 45"/>
          <p:cNvSpPr/>
          <p:nvPr/>
        </p:nvSpPr>
        <p:spPr>
          <a:xfrm flipH="1">
            <a:off x="10612435" y="1311981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1" name="Diagram line 46"/>
          <p:cNvSpPr/>
          <p:nvPr/>
        </p:nvSpPr>
        <p:spPr>
          <a:xfrm flipH="1">
            <a:off x="10713202" y="1278423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2" name="Diagram line 47"/>
          <p:cNvSpPr/>
          <p:nvPr/>
        </p:nvSpPr>
        <p:spPr>
          <a:xfrm flipH="1">
            <a:off x="10814060" y="1244773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3" name="Diagram line 48"/>
          <p:cNvSpPr/>
          <p:nvPr/>
        </p:nvSpPr>
        <p:spPr>
          <a:xfrm flipH="1">
            <a:off x="10914918" y="1211123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4" name="Diagram line 49"/>
          <p:cNvSpPr/>
          <p:nvPr/>
        </p:nvSpPr>
        <p:spPr>
          <a:xfrm flipH="1">
            <a:off x="11015685" y="1177564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5" name="Diagram line 50"/>
          <p:cNvSpPr/>
          <p:nvPr/>
        </p:nvSpPr>
        <p:spPr>
          <a:xfrm flipH="1">
            <a:off x="11116544" y="1143914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6" name="Diagram line 51"/>
          <p:cNvSpPr/>
          <p:nvPr/>
        </p:nvSpPr>
        <p:spPr>
          <a:xfrm flipH="1">
            <a:off x="11217402" y="1110356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7" name="Diagram line 52"/>
          <p:cNvSpPr/>
          <p:nvPr/>
        </p:nvSpPr>
        <p:spPr>
          <a:xfrm flipH="1">
            <a:off x="11318260" y="1076706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8" name="Diagram line 53"/>
          <p:cNvSpPr/>
          <p:nvPr/>
        </p:nvSpPr>
        <p:spPr>
          <a:xfrm flipH="1">
            <a:off x="11419027" y="1043148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59" name="Diagram line 54"/>
          <p:cNvSpPr/>
          <p:nvPr/>
        </p:nvSpPr>
        <p:spPr>
          <a:xfrm flipH="1">
            <a:off x="11519886" y="1009498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60" name="Diagram line 55"/>
          <p:cNvSpPr/>
          <p:nvPr/>
        </p:nvSpPr>
        <p:spPr>
          <a:xfrm flipH="1">
            <a:off x="11620744" y="975848"/>
            <a:ext cx="25237" cy="113477"/>
          </a:xfrm>
          <a:prstGeom prst="line">
            <a:avLst/>
          </a:prstGeom>
          <a:noFill/>
          <a:ln w="9906">
            <a:solidFill>
              <a:schemeClr val="tx1"/>
            </a:solidFill>
            <a:prstDash val="solid"/>
          </a:ln>
        </p:spPr>
      </p:sp>
      <p:sp>
        <p:nvSpPr>
          <p:cNvPr id="61" name="Diagram line 56"/>
          <p:cNvSpPr/>
          <p:nvPr/>
        </p:nvSpPr>
        <p:spPr>
          <a:xfrm flipV="1">
            <a:off x="9150309" y="946495"/>
            <a:ext cx="2583820" cy="861273"/>
          </a:xfrm>
          <a:prstGeom prst="line">
            <a:avLst/>
          </a:prstGeom>
          <a:noFill/>
          <a:ln w="23241">
            <a:solidFill>
              <a:schemeClr val="tx1"/>
            </a:solidFill>
            <a:prstDash val="solid"/>
          </a:ln>
        </p:spPr>
      </p:sp>
      <p:sp>
        <p:nvSpPr>
          <p:cNvPr id="62" name="Diagram label 57"/>
          <p:cNvSpPr txBox="1"/>
          <p:nvPr/>
        </p:nvSpPr>
        <p:spPr>
          <a:xfrm>
            <a:off x="5915345" y="1946483"/>
            <a:ext cx="225582" cy="22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60" dirty="0">
                <a:solidFill>
                  <a:schemeClr val="tx1"/>
                </a:solidFill>
              </a:rPr>
              <a:t>R</a:t>
            </a:r>
            <a:endParaRPr lang="en-US" sz="1360" dirty="0"/>
          </a:p>
        </p:txBody>
      </p:sp>
      <p:sp>
        <p:nvSpPr>
          <p:cNvPr id="63" name="Diagram label 58"/>
          <p:cNvSpPr txBox="1"/>
          <p:nvPr/>
        </p:nvSpPr>
        <p:spPr>
          <a:xfrm>
            <a:off x="9037564" y="1946483"/>
            <a:ext cx="225582" cy="224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60" dirty="0">
                <a:solidFill>
                  <a:schemeClr val="tx1"/>
                </a:solidFill>
              </a:rPr>
              <a:t>S</a:t>
            </a:r>
            <a:endParaRPr lang="en-US" sz="1360" dirty="0"/>
          </a:p>
        </p:txBody>
      </p:sp>
      <p:sp>
        <p:nvSpPr>
          <p:cNvPr id="64" name="Diagram label 59"/>
          <p:cNvSpPr txBox="1"/>
          <p:nvPr/>
        </p:nvSpPr>
        <p:spPr>
          <a:xfrm>
            <a:off x="11872844" y="788030"/>
            <a:ext cx="225582" cy="224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60" dirty="0">
                <a:solidFill>
                  <a:schemeClr val="tx1"/>
                </a:solidFill>
              </a:rPr>
              <a:t>T</a:t>
            </a:r>
            <a:endParaRPr lang="en-US" sz="1360" dirty="0"/>
          </a:p>
        </p:txBody>
      </p:sp>
      <p:sp>
        <p:nvSpPr>
          <p:cNvPr id="65" name="Diagram ball 60"/>
          <p:cNvSpPr/>
          <p:nvPr/>
        </p:nvSpPr>
        <p:spPr>
          <a:xfrm>
            <a:off x="6756959" y="679399"/>
            <a:ext cx="119604" cy="119604"/>
          </a:xfrm>
          <a:prstGeom prst="ellipse">
            <a:avLst/>
          </a:prstGeom>
          <a:solidFill>
            <a:srgbClr val="888888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6" name="Diagram label 61"/>
          <p:cNvSpPr txBox="1"/>
          <p:nvPr/>
        </p:nvSpPr>
        <p:spPr>
          <a:xfrm>
            <a:off x="6471575" y="560436"/>
            <a:ext cx="225582" cy="2244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60" dirty="0">
                <a:solidFill>
                  <a:schemeClr val="tx1"/>
                </a:solidFill>
              </a:rPr>
              <a:t>B</a:t>
            </a:r>
            <a:endParaRPr lang="en-US" sz="1360" dirty="0"/>
          </a:p>
        </p:txBody>
      </p:sp>
      <p:sp>
        <p:nvSpPr>
          <p:cNvPr id="67" name="Diagram line 62"/>
          <p:cNvSpPr/>
          <p:nvPr/>
        </p:nvSpPr>
        <p:spPr>
          <a:xfrm>
            <a:off x="6816761" y="739201"/>
            <a:ext cx="1602852" cy="1068568"/>
          </a:xfrm>
          <a:prstGeom prst="line">
            <a:avLst/>
          </a:prstGeom>
          <a:noFill/>
          <a:ln w="19939">
            <a:solidFill>
              <a:schemeClr val="accent2"/>
            </a:solidFill>
            <a:prstDash val="solid"/>
          </a:ln>
        </p:spPr>
      </p:sp>
      <p:sp>
        <p:nvSpPr>
          <p:cNvPr id="68" name="Diagram arrow 63"/>
          <p:cNvSpPr/>
          <p:nvPr/>
        </p:nvSpPr>
        <p:spPr>
          <a:xfrm>
            <a:off x="7540782" y="1221821"/>
            <a:ext cx="154808" cy="103144"/>
          </a:xfrm>
          <a:prstGeom prst="line">
            <a:avLst/>
          </a:prstGeom>
          <a:noFill/>
          <a:ln w="19939">
            <a:solidFill>
              <a:schemeClr val="accent2"/>
            </a:solidFill>
            <a:prstDash val="solid"/>
            <a:tailEnd type="triangle" w="lg" len="lg"/>
          </a:ln>
        </p:spPr>
      </p:sp>
      <p:sp>
        <p:nvSpPr>
          <p:cNvPr id="69" name="Diagram line 64"/>
          <p:cNvSpPr/>
          <p:nvPr/>
        </p:nvSpPr>
        <p:spPr>
          <a:xfrm flipV="1">
            <a:off x="8419612" y="1320576"/>
            <a:ext cx="2192183" cy="487101"/>
          </a:xfrm>
          <a:prstGeom prst="line">
            <a:avLst/>
          </a:prstGeom>
          <a:noFill/>
          <a:ln w="19939">
            <a:solidFill>
              <a:schemeClr val="accent1"/>
            </a:solidFill>
            <a:prstDash val="solid"/>
          </a:ln>
        </p:spPr>
      </p:sp>
      <p:sp>
        <p:nvSpPr>
          <p:cNvPr id="70" name="Diagram arrow 65"/>
          <p:cNvSpPr/>
          <p:nvPr/>
        </p:nvSpPr>
        <p:spPr>
          <a:xfrm flipV="1">
            <a:off x="9424904" y="1543964"/>
            <a:ext cx="181600" cy="40325"/>
          </a:xfrm>
          <a:prstGeom prst="line">
            <a:avLst/>
          </a:prstGeom>
          <a:noFill/>
          <a:ln w="19939">
            <a:solidFill>
              <a:schemeClr val="accent1"/>
            </a:solidFill>
            <a:prstDash val="solid"/>
            <a:tailEnd type="triangle" w="lg" len="lg"/>
          </a:ln>
        </p:spPr>
      </p:sp>
      <p:sp>
        <p:nvSpPr>
          <p:cNvPr id="71" name="Diagram line 66"/>
          <p:cNvSpPr/>
          <p:nvPr/>
        </p:nvSpPr>
        <p:spPr>
          <a:xfrm flipV="1">
            <a:off x="10611795" y="722193"/>
            <a:ext cx="957651" cy="598475"/>
          </a:xfrm>
          <a:prstGeom prst="line">
            <a:avLst/>
          </a:prstGeom>
          <a:noFill/>
          <a:ln w="19939">
            <a:solidFill>
              <a:schemeClr val="accent4"/>
            </a:solidFill>
            <a:prstDash val="solid"/>
          </a:ln>
        </p:spPr>
      </p:sp>
      <p:sp>
        <p:nvSpPr>
          <p:cNvPr id="72" name="Diagram arrow 67"/>
          <p:cNvSpPr/>
          <p:nvPr/>
        </p:nvSpPr>
        <p:spPr>
          <a:xfrm flipV="1">
            <a:off x="11011753" y="972099"/>
            <a:ext cx="157734" cy="98572"/>
          </a:xfrm>
          <a:prstGeom prst="line">
            <a:avLst/>
          </a:prstGeom>
          <a:noFill/>
          <a:ln w="19939">
            <a:solidFill>
              <a:schemeClr val="accent4"/>
            </a:solidFill>
            <a:prstDash val="solid"/>
            <a:tailEnd type="triangle" w="lg" len="lg"/>
          </a:ln>
        </p:spPr>
      </p:sp>
      <p:sp>
        <p:nvSpPr>
          <p:cNvPr id="73" name="Diagram label 68"/>
          <p:cNvSpPr txBox="1"/>
          <p:nvPr/>
        </p:nvSpPr>
        <p:spPr>
          <a:xfrm>
            <a:off x="7813182" y="887974"/>
            <a:ext cx="1601206" cy="20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5" dirty="0">
                <a:solidFill>
                  <a:schemeClr val="accent2"/>
                </a:solidFill>
              </a:rPr>
              <a:t>(9</a:t>
            </a:r>
            <a:r>
              <a:rPr lang="en-US" sz="1255" b="1" dirty="0">
                <a:solidFill>
                  <a:schemeClr val="accent2"/>
                </a:solidFill>
              </a:rPr>
              <a:t>i</a:t>
            </a:r>
            <a:r>
              <a:rPr lang="en-US" sz="1255" dirty="0">
                <a:solidFill>
                  <a:schemeClr val="accent2"/>
                </a:solidFill>
              </a:rPr>
              <a:t> − 6</a:t>
            </a:r>
            <a:r>
              <a:rPr lang="en-US" sz="1255" b="1" dirty="0">
                <a:solidFill>
                  <a:schemeClr val="accent2"/>
                </a:solidFill>
              </a:rPr>
              <a:t>j</a:t>
            </a:r>
            <a:r>
              <a:rPr lang="en-US" sz="1255" dirty="0">
                <a:solidFill>
                  <a:schemeClr val="accent2"/>
                </a:solidFill>
              </a:rPr>
              <a:t>) m s</a:t>
            </a:r>
            <a:r>
              <a:rPr lang="en-US" sz="1255" baseline="30000" dirty="0">
                <a:solidFill>
                  <a:schemeClr val="accent2"/>
                </a:solidFill>
              </a:rPr>
              <a:t>−1</a:t>
            </a:r>
            <a:endParaRPr lang="en-US" sz="1255" dirty="0"/>
          </a:p>
        </p:txBody>
      </p:sp>
      <p:sp>
        <p:nvSpPr>
          <p:cNvPr id="74" name="Solution text"/>
          <p:cNvSpPr txBox="1"/>
          <p:nvPr/>
        </p:nvSpPr>
        <p:spPr>
          <a:xfrm>
            <a:off x="5842010" y="2675443"/>
            <a:ext cx="6265377" cy="271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a)</a:t>
            </a:r>
            <a:r>
              <a:rPr lang="en-US" sz="1400" dirty="0">
                <a:solidFill>
                  <a:schemeClr val="accent1"/>
                </a:solidFill>
              </a:rPr>
              <a:t> RS is parallel to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: the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component is unchanged and the 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 component is reversed and multiplied by e.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Velocity after hitting RS = 9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+ 6e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To reach ST, the path must be less steep than ST:  </a:t>
            </a:r>
            <a:r>
              <a:rPr lang="en-US" sz="1400" baseline="30000" dirty="0">
                <a:solidFill>
                  <a:schemeClr val="accent1"/>
                </a:solidFill>
              </a:rPr>
              <a:t>6e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9</a:t>
            </a:r>
            <a:r>
              <a:rPr lang="en-US" sz="1400" dirty="0">
                <a:solidFill>
                  <a:schemeClr val="accent1"/>
                </a:solidFill>
              </a:rPr>
              <a:t> &lt; </a:t>
            </a:r>
            <a:r>
              <a:rPr lang="en-US" sz="1400" baseline="30000" dirty="0">
                <a:solidFill>
                  <a:schemeClr val="accent1"/>
                </a:solidFill>
              </a:rPr>
              <a:t>1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3</a:t>
            </a:r>
            <a:r>
              <a:rPr lang="en-US" sz="1400" dirty="0">
                <a:solidFill>
                  <a:schemeClr val="accent1"/>
                </a:solidFill>
              </a:rPr>
              <a:t>, so e &lt; </a:t>
            </a:r>
            <a:r>
              <a:rPr lang="en-US" sz="1400" baseline="30000" dirty="0">
                <a:solidFill>
                  <a:schemeClr val="accent1"/>
                </a:solidFill>
              </a:rPr>
              <a:t>1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Also e &gt; 0, so 0 &lt; e &lt; </a:t>
            </a:r>
            <a:r>
              <a:rPr lang="en-US" sz="1400" baseline="30000" dirty="0">
                <a:solidFill>
                  <a:schemeClr val="accent1"/>
                </a:solidFill>
              </a:rPr>
              <a:t>1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b)</a:t>
            </a:r>
            <a:r>
              <a:rPr lang="en-US" sz="1400" dirty="0">
                <a:solidFill>
                  <a:schemeClr val="accent1"/>
                </a:solidFill>
              </a:rPr>
              <a:t> Velocity after hitting RS = 9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+ 2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.  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 = 3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, 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− 3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.  Let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 = p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q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w</a:t>
            </a:r>
            <a:r>
              <a:rPr lang="en-US" sz="1400" dirty="0">
                <a:solidFill>
                  <a:schemeClr val="accent1"/>
                </a:solidFill>
              </a:rPr>
              <a:t>:  27 + 2 = 3p + q, so 3p + q = 29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−e</a:t>
            </a:r>
            <a:r>
              <a:rPr lang="en-US" sz="1400" b="1" dirty="0">
                <a:solidFill>
                  <a:schemeClr val="accent1"/>
                </a:solidFill>
              </a:rPr>
              <a:t>u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= </a:t>
            </a: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.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:  −</a:t>
            </a:r>
            <a:r>
              <a:rPr lang="en-US" sz="1400" baseline="30000" dirty="0">
                <a:solidFill>
                  <a:schemeClr val="accent1"/>
                </a:solidFill>
              </a:rPr>
              <a:t>2</a:t>
            </a:r>
            <a:r>
              <a:rPr lang="en-US" sz="1400" dirty="0">
                <a:solidFill>
                  <a:schemeClr val="accent1"/>
                </a:solidFill>
              </a:rPr>
              <a:t>⁄</a:t>
            </a:r>
            <a:r>
              <a:rPr lang="en-US" sz="1400" baseline="-8000" dirty="0">
                <a:solidFill>
                  <a:schemeClr val="accent1"/>
                </a:solidFill>
              </a:rPr>
              <a:t>3</a:t>
            </a:r>
            <a:r>
              <a:rPr lang="en-US" sz="1400" dirty="0">
                <a:solidFill>
                  <a:schemeClr val="accent1"/>
                </a:solidFill>
              </a:rPr>
              <a:t>(9 − 6) = p − 3q, so p − 3q = −2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chemeClr val="accent1"/>
                </a:solidFill>
              </a:rPr>
              <a:t>Solving: p = 8.5, q = 3.5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v</a:t>
            </a:r>
            <a:r>
              <a:rPr lang="en-US" sz="1400" dirty="0">
                <a:solidFill>
                  <a:schemeClr val="accent1"/>
                </a:solidFill>
              </a:rPr>
              <a:t> = (8.5</a:t>
            </a:r>
            <a:r>
              <a:rPr lang="en-US" sz="1400" b="1" dirty="0">
                <a:solidFill>
                  <a:schemeClr val="accent1"/>
                </a:solidFill>
              </a:rPr>
              <a:t>i</a:t>
            </a:r>
            <a:r>
              <a:rPr lang="en-US" sz="1400" dirty="0">
                <a:solidFill>
                  <a:schemeClr val="accent1"/>
                </a:solidFill>
              </a:rPr>
              <a:t> + 3.5</a:t>
            </a:r>
            <a:r>
              <a:rPr lang="en-US" sz="1400" b="1" dirty="0">
                <a:solidFill>
                  <a:schemeClr val="accent1"/>
                </a:solidFill>
              </a:rPr>
              <a:t>j</a:t>
            </a:r>
            <a:r>
              <a:rPr lang="en-US" sz="1400" dirty="0">
                <a:solidFill>
                  <a:schemeClr val="accent1"/>
                </a:solidFill>
              </a:rPr>
              <a:t>) m s</a:t>
            </a:r>
            <a:r>
              <a:rPr lang="en-US" sz="1400" baseline="30000" dirty="0">
                <a:solidFill>
                  <a:schemeClr val="accent1"/>
                </a:solidFill>
              </a:rPr>
              <a:t>−1</a:t>
            </a:r>
            <a:endParaRPr lang="en-US" sz="1400" dirty="0"/>
          </a:p>
        </p:txBody>
      </p:sp>
      <p:sp>
        <p:nvSpPr>
          <p:cNvPr id="75" name="Previous slide">
            <a:hlinkClick r:id="" action="ppaction://hlinkshowjump?jump=previousslide"/>
          </p:cNvPr>
          <p:cNvSpPr txBox="1"/>
          <p:nvPr/>
        </p:nvSpPr>
        <p:spPr>
          <a:xfrm>
            <a:off x="203180" y="6434633"/>
            <a:ext cx="1270010" cy="270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Previous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74" grpId="0"/>
      <p:bldP spid="74" grpId="1"/>
    </p:bldLst>
  </p:timing>
</p:sld>
</file>

<file path=ppt/theme/theme1.xml><?xml version="1.0" encoding="utf-8"?>
<a:theme xmlns:a="http://schemas.openxmlformats.org/drawingml/2006/main" name="Rebounding Particles">
  <a:themeElements>
    <a:clrScheme name="Rebounding Particles">
      <a:dk1>
        <a:srgbClr val="000000"/>
      </a:dk1>
      <a:lt1>
        <a:srgbClr val="FFFFFF"/>
      </a:lt1>
      <a:dk2>
        <a:srgbClr val="1F2D50"/>
      </a:dk2>
      <a:lt2>
        <a:srgbClr val="B7E1F1"/>
      </a:lt2>
      <a:accent1>
        <a:srgbClr val="7030A0"/>
      </a:accent1>
      <a:accent2>
        <a:srgbClr val="12A150"/>
      </a:accent2>
      <a:accent3>
        <a:srgbClr val="C8102E"/>
      </a:accent3>
      <a:accent4>
        <a:srgbClr val="1F6FBF"/>
      </a:accent4>
      <a:accent5>
        <a:srgbClr val="1E7DA8"/>
      </a:accent5>
      <a:accent6>
        <a:srgbClr val="3AA935"/>
      </a:accent6>
      <a:hlink>
        <a:srgbClr val="1F2D50"/>
      </a:hlink>
      <a:folHlink>
        <a:srgbClr val="7030A0"/>
      </a:folHlink>
    </a:clrScheme>
    <a:fontScheme name="Rebounding Particles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Rebounding Particles against Inclined Walls</dc:title>
  <dc:subject>PptxGenJS Presentation</dc:subject>
  <dc:creator>PptxGenJS</dc:creator>
  <cp:lastModifiedBy>PptxGenJS</cp:lastModifiedBy>
  <cp:revision>1</cp:revision>
  <dcterms:created xsi:type="dcterms:W3CDTF">2026-10-26T21:42:54Z</dcterms:created>
  <dcterms:modified xsi:type="dcterms:W3CDTF">2026-10-26T21:42:54Z</dcterms:modified>
</cp:coreProperties>
</file>